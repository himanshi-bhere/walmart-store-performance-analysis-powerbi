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6" r:id="rId3"/>
    <p:sldId id="257" r:id="rId4"/>
    <p:sldId id="262" r:id="rId5"/>
    <p:sldId id="258" r:id="rId6"/>
    <p:sldId id="263" r:id="rId7"/>
    <p:sldId id="264"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0" d="100"/>
          <a:sy n="60" d="100"/>
        </p:scale>
        <p:origin x="-1080" y="-3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barChart>
        <c:barDir val="col"/>
        <c:grouping val="clustered"/>
        <c:varyColors val="0"/>
        <c:ser>
          <c:idx val="0"/>
          <c:order val="0"/>
          <c:tx>
            <c:strRef>
              <c:f>Sheet1!$B$1</c:f>
              <c:strCache>
                <c:ptCount val="1"/>
                <c:pt idx="0">
                  <c:v>Sales</c:v>
                </c:pt>
              </c:strCache>
            </c:strRef>
          </c:tx>
          <c:spPr>
            <a:solidFill>
              <a:srgbClr val="1B2A4A"/>
            </a:solidFill>
            <a:effectLst/>
          </c:spPr>
          <c:invertIfNegative val="0"/>
          <c:dLbls>
            <c:numFmt formatCode="\$#,##0" sourceLinked="0"/>
            <c:txPr>
              <a:bodyPr/>
              <a:lstStyle/>
              <a:p>
                <a:pPr>
                  <a:defRPr sz="1000" b="0" i="0" u="none" strike="noStrike">
                    <a:solidFill>
                      <a:srgbClr val="1B2A4A"/>
                    </a:solidFill>
                    <a:latin typeface="Arial"/>
                  </a:defRPr>
                </a:pPr>
                <a:endParaRPr lang="en-US"/>
              </a:p>
            </c:txPr>
            <c:showLegendKey val="0"/>
            <c:showVal val="1"/>
            <c:showCatName val="0"/>
            <c:showSerName val="0"/>
            <c:showPercent val="0"/>
            <c:showBubbleSize val="0"/>
            <c:showLeaderLines val="0"/>
          </c:dLbls>
          <c:cat>
            <c:strRef>
              <c:f>Sheet1!$A$2:$A$5</c:f>
              <c:strCache>
                <c:ptCount val="4"/>
                <c:pt idx="0">
                  <c:v>2011</c:v>
                </c:pt>
                <c:pt idx="1">
                  <c:v>2012</c:v>
                </c:pt>
                <c:pt idx="2">
                  <c:v>2013</c:v>
                </c:pt>
                <c:pt idx="3">
                  <c:v>2014</c:v>
                </c:pt>
              </c:strCache>
            </c:strRef>
          </c:cat>
          <c:val>
            <c:numRef>
              <c:f>Sheet1!$B$2:$B$5</c:f>
              <c:numCache>
                <c:formatCode>General</c:formatCode>
                <c:ptCount val="4"/>
                <c:pt idx="0">
                  <c:v>144206.29</c:v>
                </c:pt>
                <c:pt idx="1">
                  <c:v>139903.66</c:v>
                </c:pt>
                <c:pt idx="2">
                  <c:v>188665.07</c:v>
                </c:pt>
                <c:pt idx="3">
                  <c:v>248707.83</c:v>
                </c:pt>
              </c:numCache>
            </c:numRef>
          </c:val>
        </c:ser>
        <c:dLbls>
          <c:showLegendKey val="0"/>
          <c:showVal val="1"/>
          <c:showCatName val="0"/>
          <c:showSerName val="0"/>
          <c:showPercent val="0"/>
          <c:showBubbleSize val="0"/>
        </c:dLbls>
        <c:gapWidth val="150"/>
        <c:axId val="165184640"/>
        <c:axId val="165186176"/>
      </c:barChart>
      <c:catAx>
        <c:axId val="165184640"/>
        <c:scaling>
          <c:orientation val="minMax"/>
        </c:scaling>
        <c:delete val="0"/>
        <c:axPos val="b"/>
        <c:numFmt formatCode="General" sourceLinked="1"/>
        <c:majorTickMark val="out"/>
        <c:minorTickMark val="none"/>
        <c:tickLblPos val="low"/>
        <c:spPr>
          <a:ln w="12700" cap="flat">
            <a:solidFill>
              <a:srgbClr val="CBD5E1"/>
            </a:solidFill>
            <a:prstDash val="solid"/>
            <a:round/>
          </a:ln>
        </c:spPr>
        <c:txPr>
          <a:bodyPr/>
          <a:lstStyle/>
          <a:p>
            <a:pPr>
              <a:defRPr sz="1100" b="0" i="0" u="none" strike="noStrike">
                <a:solidFill>
                  <a:srgbClr val="6B7A8F"/>
                </a:solidFill>
                <a:latin typeface="Arial"/>
              </a:defRPr>
            </a:pPr>
            <a:endParaRPr lang="en-US"/>
          </a:p>
        </c:txPr>
        <c:crossAx val="165186176"/>
        <c:crosses val="autoZero"/>
        <c:auto val="1"/>
        <c:lblAlgn val="ctr"/>
        <c:lblOffset val="100"/>
        <c:noMultiLvlLbl val="1"/>
      </c:catAx>
      <c:valAx>
        <c:axId val="165186176"/>
        <c:scaling>
          <c:orientation val="minMax"/>
        </c:scaling>
        <c:delete val="0"/>
        <c:axPos val="l"/>
        <c:majorGridlines>
          <c:spPr>
            <a:ln w="12700" cap="flat">
              <a:solidFill>
                <a:srgbClr val="E2E8F0"/>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6B7A8F"/>
                </a:solidFill>
                <a:latin typeface="Arial"/>
              </a:defRPr>
            </a:pPr>
            <a:endParaRPr lang="en-US"/>
          </a:p>
        </c:txPr>
        <c:crossAx val="165184640"/>
        <c:crosses val="autoZero"/>
        <c:crossBetween val="between"/>
      </c:valAx>
      <c:spPr>
        <a:solidFill>
          <a:srgbClr val="F5F7FA"/>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barChart>
        <c:barDir val="col"/>
        <c:grouping val="clustered"/>
        <c:varyColors val="0"/>
        <c:ser>
          <c:idx val="0"/>
          <c:order val="0"/>
          <c:tx>
            <c:strRef>
              <c:f>Sheet1!$B$1</c:f>
              <c:strCache>
                <c:ptCount val="1"/>
                <c:pt idx="0">
                  <c:v>Sales</c:v>
                </c:pt>
              </c:strCache>
            </c:strRef>
          </c:tx>
          <c:spPr>
            <a:solidFill>
              <a:srgbClr val="1B2A4A"/>
            </a:solidFill>
            <a:effectLst/>
          </c:spPr>
          <c:invertIfNegative val="0"/>
          <c:dPt>
            <c:idx val="0"/>
            <c:invertIfNegative val="0"/>
            <c:bubble3D val="0"/>
            <c:spPr>
              <a:solidFill>
                <a:srgbClr val="1B2A4A"/>
              </a:solidFill>
              <a:effectLst/>
            </c:spPr>
          </c:dPt>
          <c:dPt>
            <c:idx val="1"/>
            <c:invertIfNegative val="0"/>
            <c:bubble3D val="0"/>
            <c:spPr>
              <a:solidFill>
                <a:srgbClr val="1B2A4A"/>
              </a:solidFill>
              <a:effectLst/>
            </c:spPr>
          </c:dPt>
          <c:dPt>
            <c:idx val="2"/>
            <c:invertIfNegative val="0"/>
            <c:bubble3D val="0"/>
            <c:spPr>
              <a:solidFill>
                <a:srgbClr val="1B2A4A"/>
              </a:solidFill>
              <a:effectLst/>
            </c:spPr>
          </c:dPt>
          <c:dPt>
            <c:idx val="3"/>
            <c:invertIfNegative val="0"/>
            <c:bubble3D val="0"/>
            <c:spPr>
              <a:solidFill>
                <a:srgbClr val="1B2A4A"/>
              </a:solidFill>
              <a:effectLst/>
            </c:spPr>
          </c:dPt>
          <c:dPt>
            <c:idx val="4"/>
            <c:invertIfNegative val="0"/>
            <c:bubble3D val="0"/>
            <c:spPr>
              <a:solidFill>
                <a:srgbClr val="1B2A4A"/>
              </a:solidFill>
              <a:effectLst/>
            </c:spPr>
          </c:dPt>
          <c:dPt>
            <c:idx val="5"/>
            <c:invertIfNegative val="0"/>
            <c:bubble3D val="0"/>
            <c:spPr>
              <a:solidFill>
                <a:srgbClr val="1B2A4A"/>
              </a:solidFill>
              <a:effectLst/>
            </c:spPr>
          </c:dPt>
          <c:dPt>
            <c:idx val="6"/>
            <c:invertIfNegative val="0"/>
            <c:bubble3D val="0"/>
            <c:spPr>
              <a:solidFill>
                <a:srgbClr val="1B2A4A"/>
              </a:solidFill>
              <a:effectLst/>
            </c:spPr>
          </c:dPt>
          <c:dPt>
            <c:idx val="7"/>
            <c:invertIfNegative val="0"/>
            <c:bubble3D val="0"/>
            <c:spPr>
              <a:solidFill>
                <a:srgbClr val="1B2A4A"/>
              </a:solidFill>
              <a:effectLst/>
            </c:spPr>
          </c:dPt>
          <c:dPt>
            <c:idx val="8"/>
            <c:invertIfNegative val="0"/>
            <c:bubble3D val="0"/>
            <c:spPr>
              <a:solidFill>
                <a:srgbClr val="1B2A4A"/>
              </a:solidFill>
              <a:effectLst/>
            </c:spPr>
          </c:dPt>
          <c:dPt>
            <c:idx val="9"/>
            <c:invertIfNegative val="0"/>
            <c:bubble3D val="0"/>
            <c:spPr>
              <a:solidFill>
                <a:srgbClr val="1B2A4A"/>
              </a:solidFill>
              <a:effectLst/>
            </c:spPr>
          </c:dPt>
          <c:dPt>
            <c:idx val="10"/>
            <c:invertIfNegative val="0"/>
            <c:bubble3D val="0"/>
            <c:spPr>
              <a:solidFill>
                <a:srgbClr val="1B2A4A"/>
              </a:solidFill>
              <a:effectLst/>
            </c:spPr>
          </c:dPt>
          <c:dLbls>
            <c:numFmt formatCode="\$#,##0" sourceLinked="0"/>
            <c:txPr>
              <a:bodyPr/>
              <a:lstStyle/>
              <a:p>
                <a:pPr>
                  <a:defRPr sz="950" b="0" i="0" u="none" strike="noStrike">
                    <a:solidFill>
                      <a:srgbClr val="1B2A4A"/>
                    </a:solidFill>
                    <a:latin typeface="Arial"/>
                  </a:defRPr>
                </a:pPr>
                <a:endParaRPr lang="en-US"/>
              </a:p>
            </c:txPr>
            <c:showLegendKey val="0"/>
            <c:showVal val="1"/>
            <c:showCatName val="0"/>
            <c:showSerName val="0"/>
            <c:showPercent val="0"/>
            <c:showBubbleSize val="0"/>
            <c:showLeaderLines val="0"/>
          </c:dLbls>
          <c:cat>
            <c:strRef>
              <c:f>Sheet1!$A$2:$A$12</c:f>
              <c:strCache>
                <c:ptCount val="11"/>
                <c:pt idx="0">
                  <c:v>California</c:v>
                </c:pt>
                <c:pt idx="1">
                  <c:v>Washington</c:v>
                </c:pt>
                <c:pt idx="2">
                  <c:v>Arizona</c:v>
                </c:pt>
                <c:pt idx="3">
                  <c:v>Colorado</c:v>
                </c:pt>
                <c:pt idx="4">
                  <c:v>Oregon</c:v>
                </c:pt>
                <c:pt idx="5">
                  <c:v>Nevada</c:v>
                </c:pt>
                <c:pt idx="6">
                  <c:v>Utah</c:v>
                </c:pt>
                <c:pt idx="7">
                  <c:v>Montana</c:v>
                </c:pt>
                <c:pt idx="8">
                  <c:v>New Mexico</c:v>
                </c:pt>
                <c:pt idx="9">
                  <c:v>Idaho</c:v>
                </c:pt>
                <c:pt idx="10">
                  <c:v>Wyoming</c:v>
                </c:pt>
              </c:strCache>
            </c:strRef>
          </c:cat>
          <c:val>
            <c:numRef>
              <c:f>Sheet1!$B$2:$B$12</c:f>
              <c:numCache>
                <c:formatCode>General</c:formatCode>
                <c:ptCount val="11"/>
                <c:pt idx="0">
                  <c:v>457687.63</c:v>
                </c:pt>
                <c:pt idx="1">
                  <c:v>138641.26999999999</c:v>
                </c:pt>
                <c:pt idx="2">
                  <c:v>35282</c:v>
                </c:pt>
                <c:pt idx="3">
                  <c:v>32108.12</c:v>
                </c:pt>
                <c:pt idx="4">
                  <c:v>17431.150000000001</c:v>
                </c:pt>
                <c:pt idx="5">
                  <c:v>16729.099999999999</c:v>
                </c:pt>
                <c:pt idx="6">
                  <c:v>11220.06</c:v>
                </c:pt>
                <c:pt idx="7">
                  <c:v>5589.35</c:v>
                </c:pt>
                <c:pt idx="8">
                  <c:v>4783.5200000000004</c:v>
                </c:pt>
                <c:pt idx="9">
                  <c:v>4382.49</c:v>
                </c:pt>
                <c:pt idx="10">
                  <c:v>1603.14</c:v>
                </c:pt>
              </c:numCache>
            </c:numRef>
          </c:val>
        </c:ser>
        <c:dLbls>
          <c:showLegendKey val="0"/>
          <c:showVal val="1"/>
          <c:showCatName val="0"/>
          <c:showSerName val="0"/>
          <c:showPercent val="0"/>
          <c:showBubbleSize val="0"/>
        </c:dLbls>
        <c:gapWidth val="150"/>
        <c:axId val="132414848"/>
        <c:axId val="132416640"/>
      </c:barChart>
      <c:catAx>
        <c:axId val="132414848"/>
        <c:scaling>
          <c:orientation val="minMax"/>
        </c:scaling>
        <c:delete val="0"/>
        <c:axPos val="b"/>
        <c:numFmt formatCode="General" sourceLinked="1"/>
        <c:majorTickMark val="out"/>
        <c:minorTickMark val="none"/>
        <c:tickLblPos val="low"/>
        <c:spPr>
          <a:ln w="12700" cap="flat">
            <a:solidFill>
              <a:srgbClr val="CBD5E1"/>
            </a:solidFill>
            <a:prstDash val="solid"/>
            <a:round/>
          </a:ln>
        </c:spPr>
        <c:txPr>
          <a:bodyPr/>
          <a:lstStyle/>
          <a:p>
            <a:pPr>
              <a:defRPr sz="1000" b="0" i="0" u="none" strike="noStrike">
                <a:solidFill>
                  <a:srgbClr val="1B2A4A"/>
                </a:solidFill>
                <a:latin typeface="Arial"/>
              </a:defRPr>
            </a:pPr>
            <a:endParaRPr lang="en-US"/>
          </a:p>
        </c:txPr>
        <c:crossAx val="132416640"/>
        <c:crosses val="autoZero"/>
        <c:auto val="1"/>
        <c:lblAlgn val="ctr"/>
        <c:lblOffset val="100"/>
        <c:noMultiLvlLbl val="1"/>
      </c:catAx>
      <c:valAx>
        <c:axId val="132416640"/>
        <c:scaling>
          <c:orientation val="minMax"/>
        </c:scaling>
        <c:delete val="0"/>
        <c:axPos val="l"/>
        <c:majorGridlines>
          <c:spPr>
            <a:ln w="12700" cap="flat">
              <a:solidFill>
                <a:srgbClr val="EEF1F5"/>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6B7A8F"/>
                </a:solidFill>
                <a:latin typeface="Arial"/>
              </a:defRPr>
            </a:pPr>
            <a:endParaRPr lang="en-US"/>
          </a:p>
        </c:txPr>
        <c:crossAx val="13241484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manualLayout>
          <c:layoutTarget val="inner"/>
          <c:xMode val="edge"/>
          <c:yMode val="edge"/>
          <c:x val="5.7674273153872295E-2"/>
          <c:y val="0.12515262515262515"/>
          <c:w val="0.94219220294357842"/>
          <c:h val="0.81421721323296126"/>
        </c:manualLayout>
      </c:layout>
      <c:lineChart>
        <c:grouping val="standard"/>
        <c:varyColors val="0"/>
        <c:ser>
          <c:idx val="0"/>
          <c:order val="0"/>
          <c:tx>
            <c:strRef>
              <c:f>Sheet1!$B$1</c:f>
              <c:strCache>
                <c:ptCount val="1"/>
                <c:pt idx="0">
                  <c:v>2011</c:v>
                </c:pt>
              </c:strCache>
            </c:strRef>
          </c:tx>
          <c:spPr>
            <a:ln w="31750" cap="flat">
              <a:solidFill>
                <a:srgbClr val="3E5C76"/>
              </a:solidFill>
              <a:prstDash val="solid"/>
              <a:round/>
            </a:ln>
            <a:effectLst/>
          </c:spPr>
          <c:marker>
            <c:symbol val="circle"/>
            <c:size val="5"/>
            <c:spPr>
              <a:solidFill>
                <a:srgbClr val="3E5C76"/>
              </a:solidFill>
              <a:ln w="9525" cap="flat">
                <a:solidFill>
                  <a:srgbClr val="3E5C7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2648.06</c:v>
                </c:pt>
                <c:pt idx="1">
                  <c:v>1348.62</c:v>
                </c:pt>
                <c:pt idx="2">
                  <c:v>11008.9</c:v>
                </c:pt>
                <c:pt idx="3">
                  <c:v>9343.49</c:v>
                </c:pt>
                <c:pt idx="4">
                  <c:v>6570.44</c:v>
                </c:pt>
                <c:pt idx="5">
                  <c:v>9629.42</c:v>
                </c:pt>
                <c:pt idx="6">
                  <c:v>21808.55</c:v>
                </c:pt>
                <c:pt idx="7">
                  <c:v>13248.23</c:v>
                </c:pt>
                <c:pt idx="8">
                  <c:v>14900.54</c:v>
                </c:pt>
                <c:pt idx="9">
                  <c:v>8728.76</c:v>
                </c:pt>
                <c:pt idx="10">
                  <c:v>23191.62</c:v>
                </c:pt>
                <c:pt idx="11">
                  <c:v>21779.67</c:v>
                </c:pt>
              </c:numCache>
            </c:numRef>
          </c:val>
          <c:smooth val="0"/>
        </c:ser>
        <c:ser>
          <c:idx val="1"/>
          <c:order val="1"/>
          <c:tx>
            <c:strRef>
              <c:f>Sheet1!$C$1</c:f>
              <c:strCache>
                <c:ptCount val="1"/>
                <c:pt idx="0">
                  <c:v>2012</c:v>
                </c:pt>
              </c:strCache>
            </c:strRef>
          </c:tx>
          <c:spPr>
            <a:ln w="31750" cap="flat">
              <a:solidFill>
                <a:srgbClr val="6C8FAE"/>
              </a:solidFill>
              <a:prstDash val="solid"/>
              <a:round/>
            </a:ln>
            <a:effectLst/>
          </c:spPr>
          <c:marker>
            <c:symbol val="circle"/>
            <c:size val="5"/>
            <c:spPr>
              <a:solidFill>
                <a:srgbClr val="6C8FAE"/>
              </a:solidFill>
              <a:ln w="9525" cap="flat">
                <a:solidFill>
                  <a:srgbClr val="6C8FAE"/>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6026.74</c:v>
                </c:pt>
                <c:pt idx="1">
                  <c:v>2004.91</c:v>
                </c:pt>
                <c:pt idx="2">
                  <c:v>15461.41</c:v>
                </c:pt>
                <c:pt idx="3">
                  <c:v>9056.02</c:v>
                </c:pt>
                <c:pt idx="4">
                  <c:v>12042.66</c:v>
                </c:pt>
                <c:pt idx="5">
                  <c:v>5088.95</c:v>
                </c:pt>
                <c:pt idx="6">
                  <c:v>7089.83</c:v>
                </c:pt>
                <c:pt idx="7">
                  <c:v>12548.36</c:v>
                </c:pt>
                <c:pt idx="8">
                  <c:v>13898.92</c:v>
                </c:pt>
                <c:pt idx="9">
                  <c:v>14016.68</c:v>
                </c:pt>
                <c:pt idx="10">
                  <c:v>14548.9</c:v>
                </c:pt>
                <c:pt idx="11">
                  <c:v>28120.29</c:v>
                </c:pt>
              </c:numCache>
            </c:numRef>
          </c:val>
          <c:smooth val="0"/>
        </c:ser>
        <c:ser>
          <c:idx val="2"/>
          <c:order val="2"/>
          <c:tx>
            <c:strRef>
              <c:f>Sheet1!$D$1</c:f>
              <c:strCache>
                <c:ptCount val="1"/>
                <c:pt idx="0">
                  <c:v>2013</c:v>
                </c:pt>
              </c:strCache>
            </c:strRef>
          </c:tx>
          <c:spPr>
            <a:ln w="31750" cap="flat">
              <a:solidFill>
                <a:srgbClr val="FF6B35"/>
              </a:solidFill>
              <a:prstDash val="solid"/>
              <a:round/>
            </a:ln>
            <a:effectLst/>
          </c:spPr>
          <c:marker>
            <c:symbol val="circle"/>
            <c:size val="5"/>
            <c:spPr>
              <a:solidFill>
                <a:srgbClr val="FF6B35"/>
              </a:solidFill>
              <a:ln w="9525" cap="flat">
                <a:solidFill>
                  <a:srgbClr val="FF6B35"/>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3657.82</c:v>
                </c:pt>
                <c:pt idx="1">
                  <c:v>3100.16</c:v>
                </c:pt>
                <c:pt idx="2">
                  <c:v>17559.03</c:v>
                </c:pt>
                <c:pt idx="3">
                  <c:v>10370.120000000001</c:v>
                </c:pt>
                <c:pt idx="4">
                  <c:v>10806.14</c:v>
                </c:pt>
                <c:pt idx="5">
                  <c:v>18598.099999999999</c:v>
                </c:pt>
                <c:pt idx="6">
                  <c:v>14417.75</c:v>
                </c:pt>
                <c:pt idx="7">
                  <c:v>12680.98</c:v>
                </c:pt>
                <c:pt idx="8">
                  <c:v>23620.880000000001</c:v>
                </c:pt>
                <c:pt idx="9">
                  <c:v>13135.35</c:v>
                </c:pt>
                <c:pt idx="10">
                  <c:v>26412.35</c:v>
                </c:pt>
                <c:pt idx="11">
                  <c:v>34306.39</c:v>
                </c:pt>
              </c:numCache>
            </c:numRef>
          </c:val>
          <c:smooth val="0"/>
        </c:ser>
        <c:ser>
          <c:idx val="3"/>
          <c:order val="3"/>
          <c:tx>
            <c:strRef>
              <c:f>Sheet1!$E$1</c:f>
              <c:strCache>
                <c:ptCount val="1"/>
                <c:pt idx="0">
                  <c:v>2014</c:v>
                </c:pt>
              </c:strCache>
            </c:strRef>
          </c:tx>
          <c:spPr>
            <a:ln w="31750" cap="flat">
              <a:solidFill>
                <a:srgbClr val="1B2A4A"/>
              </a:solidFill>
              <a:prstDash val="solid"/>
              <a:round/>
            </a:ln>
            <a:effectLst/>
          </c:spPr>
          <c:marker>
            <c:symbol val="circle"/>
            <c:size val="5"/>
            <c:spPr>
              <a:solidFill>
                <a:srgbClr val="1B2A4A"/>
              </a:solidFill>
              <a:ln w="9525" cap="flat">
                <a:solidFill>
                  <a:srgbClr val="1B2A4A"/>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12586</c:v>
                </c:pt>
                <c:pt idx="1">
                  <c:v>9814.92</c:v>
                </c:pt>
                <c:pt idx="2">
                  <c:v>28994.400000000001</c:v>
                </c:pt>
                <c:pt idx="3">
                  <c:v>13196.95</c:v>
                </c:pt>
                <c:pt idx="4">
                  <c:v>15901.65</c:v>
                </c:pt>
                <c:pt idx="5">
                  <c:v>15203.08</c:v>
                </c:pt>
                <c:pt idx="6">
                  <c:v>21390.76</c:v>
                </c:pt>
                <c:pt idx="7">
                  <c:v>24196.76</c:v>
                </c:pt>
                <c:pt idx="8">
                  <c:v>29198.12</c:v>
                </c:pt>
                <c:pt idx="9">
                  <c:v>21556.01</c:v>
                </c:pt>
                <c:pt idx="10">
                  <c:v>28915.96</c:v>
                </c:pt>
                <c:pt idx="11">
                  <c:v>27753.23</c:v>
                </c:pt>
              </c:numCache>
            </c:numRef>
          </c:val>
          <c:smooth val="0"/>
        </c:ser>
        <c:dLbls>
          <c:showLegendKey val="0"/>
          <c:showVal val="0"/>
          <c:showCatName val="0"/>
          <c:showSerName val="0"/>
          <c:showPercent val="0"/>
          <c:showBubbleSize val="0"/>
        </c:dLbls>
        <c:marker val="1"/>
        <c:smooth val="0"/>
        <c:axId val="133069056"/>
        <c:axId val="133074944"/>
      </c:lineChart>
      <c:catAx>
        <c:axId val="133069056"/>
        <c:scaling>
          <c:orientation val="minMax"/>
        </c:scaling>
        <c:delete val="0"/>
        <c:axPos val="b"/>
        <c:numFmt formatCode="General" sourceLinked="1"/>
        <c:majorTickMark val="out"/>
        <c:minorTickMark val="none"/>
        <c:tickLblPos val="low"/>
        <c:spPr>
          <a:ln w="12700" cap="flat">
            <a:solidFill>
              <a:srgbClr val="CBD5E1"/>
            </a:solidFill>
            <a:prstDash val="solid"/>
            <a:round/>
          </a:ln>
        </c:spPr>
        <c:txPr>
          <a:bodyPr/>
          <a:lstStyle/>
          <a:p>
            <a:pPr>
              <a:defRPr sz="1050" b="0" i="0" u="none" strike="noStrike">
                <a:solidFill>
                  <a:srgbClr val="6B7A8F"/>
                </a:solidFill>
                <a:latin typeface="Arial"/>
              </a:defRPr>
            </a:pPr>
            <a:endParaRPr lang="en-US"/>
          </a:p>
        </c:txPr>
        <c:crossAx val="133074944"/>
        <c:crosses val="autoZero"/>
        <c:auto val="1"/>
        <c:lblAlgn val="ctr"/>
        <c:lblOffset val="100"/>
        <c:noMultiLvlLbl val="1"/>
      </c:catAx>
      <c:valAx>
        <c:axId val="133074944"/>
        <c:scaling>
          <c:orientation val="minMax"/>
        </c:scaling>
        <c:delete val="0"/>
        <c:axPos val="l"/>
        <c:majorGridlines>
          <c:spPr>
            <a:ln w="12700" cap="flat">
              <a:solidFill>
                <a:srgbClr val="EEF1F5"/>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7A8F"/>
                </a:solidFill>
                <a:latin typeface="Arial"/>
              </a:defRPr>
            </a:pPr>
            <a:endParaRPr lang="en-US"/>
          </a:p>
        </c:txPr>
        <c:crossAx val="133069056"/>
        <c:crosses val="autoZero"/>
        <c:crossBetween val="between"/>
      </c:valAx>
      <c:spPr>
        <a:noFill/>
        <a:ln>
          <a:noFill/>
        </a:ln>
        <a:effectLst/>
      </c:spPr>
    </c:plotArea>
    <c:legend>
      <c:legendPos val="b"/>
      <c:layout>
        <c:manualLayout>
          <c:xMode val="edge"/>
          <c:yMode val="edge"/>
          <c:x val="0.73061673441023711"/>
          <c:y val="0.8820619230515323"/>
          <c:w val="0.25262483213282871"/>
          <c:h val="5.02408765618843E-2"/>
        </c:manualLayout>
      </c:layout>
      <c:overlay val="0"/>
      <c:txPr>
        <a:bodyPr/>
        <a:lstStyle/>
        <a:p>
          <a:pPr>
            <a:defRPr sz="1100">
              <a:solidFill>
                <a:srgbClr val="6B7A8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8164CBF8-3740-44B8-AE46-0FB76C38E97C}" type="datetimeFigureOut">
              <a:rPr lang="en-IN" smtClean="0"/>
              <a:t>15-07-2026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E1A82676-AF83-473C-BE98-4D52427AA1EB}" type="slidenum">
              <a:rPr lang="en-IN" smtClean="0"/>
              <a:t>‹#›</a:t>
            </a:fld>
            <a:endParaRPr lang="en-IN"/>
          </a:p>
        </p:txBody>
      </p:sp>
    </p:spTree>
    <p:extLst>
      <p:ext uri="{BB962C8B-B14F-4D97-AF65-F5344CB8AC3E}">
        <p14:creationId xmlns:p14="http://schemas.microsoft.com/office/powerpoint/2010/main" val="1168376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5F7F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966960" y="-2103120"/>
            <a:ext cx="5486400" cy="5486400"/>
          </a:xfrm>
          <a:prstGeom prst="ellipse">
            <a:avLst/>
          </a:prstGeom>
          <a:solidFill>
            <a:srgbClr val="3E5C76">
              <a:alpha val="30000"/>
            </a:srgbClr>
          </a:solidFill>
          <a:ln/>
        </p:spPr>
      </p:sp>
      <p:sp>
        <p:nvSpPr>
          <p:cNvPr id="3" name="Shape 1"/>
          <p:cNvSpPr/>
          <p:nvPr/>
        </p:nvSpPr>
        <p:spPr>
          <a:xfrm>
            <a:off x="-2377440" y="4846320"/>
            <a:ext cx="4572000" cy="4572000"/>
          </a:xfrm>
          <a:prstGeom prst="ellipse">
            <a:avLst/>
          </a:prstGeom>
          <a:solidFill>
            <a:srgbClr val="FF6B35">
              <a:alpha val="15000"/>
            </a:srgbClr>
          </a:solidFill>
          <a:ln/>
        </p:spPr>
      </p:sp>
      <p:sp>
        <p:nvSpPr>
          <p:cNvPr id="4" name="Text 2"/>
          <p:cNvSpPr/>
          <p:nvPr/>
        </p:nvSpPr>
        <p:spPr>
          <a:xfrm>
            <a:off x="822960" y="2331720"/>
            <a:ext cx="10515600" cy="914400"/>
          </a:xfrm>
          <a:prstGeom prst="rect">
            <a:avLst/>
          </a:prstGeom>
          <a:noFill/>
          <a:ln/>
        </p:spPr>
        <p:txBody>
          <a:bodyPr wrap="square" rtlCol="0" anchor="ctr"/>
          <a:lstStyle/>
          <a:p>
            <a:pPr marL="0" indent="0">
              <a:buNone/>
            </a:pPr>
            <a:r>
              <a:rPr lang="en-US" sz="4000" b="1" kern="0" spc="100" dirty="0" smtClean="0">
                <a:solidFill>
                  <a:srgbClr val="FFFFFF"/>
                </a:solidFill>
                <a:latin typeface="Arial" pitchFamily="34" charset="0"/>
                <a:ea typeface="Arial" pitchFamily="34" charset="-122"/>
                <a:cs typeface="Arial" pitchFamily="34" charset="-120"/>
              </a:rPr>
              <a:t>WALMART STORE </a:t>
            </a:r>
            <a:r>
              <a:rPr lang="en-US" sz="4000" b="1" kern="0" spc="100" dirty="0">
                <a:solidFill>
                  <a:srgbClr val="FFFFFF"/>
                </a:solidFill>
                <a:latin typeface="Arial" pitchFamily="34" charset="0"/>
                <a:ea typeface="Arial" pitchFamily="34" charset="-122"/>
                <a:cs typeface="Arial" pitchFamily="34" charset="-120"/>
              </a:rPr>
              <a:t>PERFORMANCE ANALYSIS</a:t>
            </a:r>
            <a:endParaRPr lang="en-US" sz="4000" dirty="0"/>
          </a:p>
        </p:txBody>
      </p:sp>
      <p:sp>
        <p:nvSpPr>
          <p:cNvPr id="5" name="Text 3"/>
          <p:cNvSpPr/>
          <p:nvPr/>
        </p:nvSpPr>
        <p:spPr>
          <a:xfrm>
            <a:off x="822960" y="3246120"/>
            <a:ext cx="9601200" cy="548640"/>
          </a:xfrm>
          <a:prstGeom prst="rect">
            <a:avLst/>
          </a:prstGeom>
          <a:noFill/>
          <a:ln/>
        </p:spPr>
        <p:txBody>
          <a:bodyPr wrap="square" rtlCol="0" anchor="ctr"/>
          <a:lstStyle/>
          <a:p>
            <a:pPr marL="0" indent="0">
              <a:buNone/>
            </a:pPr>
            <a:r>
              <a:rPr lang="en-US" sz="1800" dirty="0">
                <a:solidFill>
                  <a:srgbClr val="D8E1EC"/>
                </a:solidFill>
                <a:latin typeface="Arial" pitchFamily="34" charset="0"/>
                <a:ea typeface="Arial" pitchFamily="34" charset="-122"/>
                <a:cs typeface="Arial" pitchFamily="34" charset="-120"/>
              </a:rPr>
              <a:t>A Data-Driven Review of Sales, Profitability &amp; Regional Performance</a:t>
            </a:r>
            <a:endParaRPr lang="en-US" sz="1800" dirty="0"/>
          </a:p>
        </p:txBody>
      </p:sp>
      <p:sp>
        <p:nvSpPr>
          <p:cNvPr id="6" name="Shape 4"/>
          <p:cNvSpPr/>
          <p:nvPr/>
        </p:nvSpPr>
        <p:spPr>
          <a:xfrm>
            <a:off x="822960" y="3794759"/>
            <a:ext cx="9601200" cy="45719"/>
          </a:xfrm>
          <a:prstGeom prst="rect">
            <a:avLst/>
          </a:prstGeom>
          <a:solidFill>
            <a:srgbClr val="FF6B35"/>
          </a:solidFill>
          <a:ln/>
        </p:spPr>
      </p:sp>
      <p:sp>
        <p:nvSpPr>
          <p:cNvPr id="7" name="Text 5"/>
          <p:cNvSpPr/>
          <p:nvPr/>
        </p:nvSpPr>
        <p:spPr>
          <a:xfrm>
            <a:off x="822960" y="132347"/>
            <a:ext cx="8229600" cy="731520"/>
          </a:xfrm>
          <a:prstGeom prst="rect">
            <a:avLst/>
          </a:prstGeom>
          <a:noFill/>
          <a:ln/>
        </p:spPr>
        <p:txBody>
          <a:bodyPr wrap="square" rtlCol="0" anchor="ctr"/>
          <a:lstStyle/>
          <a:p>
            <a:pPr marL="0" indent="0">
              <a:spcAft>
                <a:spcPts val="400"/>
              </a:spcAft>
              <a:buNone/>
            </a:pPr>
            <a:endParaRPr lang="en-US" sz="1300" dirty="0"/>
          </a:p>
        </p:txBody>
      </p:sp>
      <p:sp>
        <p:nvSpPr>
          <p:cNvPr id="8" name="Text 6"/>
          <p:cNvSpPr/>
          <p:nvPr/>
        </p:nvSpPr>
        <p:spPr>
          <a:xfrm>
            <a:off x="822960" y="6263640"/>
            <a:ext cx="7315200" cy="365760"/>
          </a:xfrm>
          <a:prstGeom prst="rect">
            <a:avLst/>
          </a:prstGeom>
          <a:noFill/>
          <a:ln/>
        </p:spPr>
        <p:txBody>
          <a:bodyPr wrap="square" rtlCol="0" anchor="ctr"/>
          <a:lstStyle/>
          <a:p>
            <a:pPr marL="0" indent="0">
              <a:buNone/>
            </a:pPr>
            <a:endParaRPr lang="en-US" sz="1100" dirty="0"/>
          </a:p>
        </p:txBody>
      </p:sp>
      <p:sp>
        <p:nvSpPr>
          <p:cNvPr id="10" name="Rectangle 9"/>
          <p:cNvSpPr/>
          <p:nvPr/>
        </p:nvSpPr>
        <p:spPr>
          <a:xfrm>
            <a:off x="822960" y="3922990"/>
            <a:ext cx="3657600" cy="92333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US" b="1" dirty="0" smtClean="0">
                <a:solidFill>
                  <a:schemeClr val="bg1"/>
                </a:solidFill>
                <a:latin typeface="Arial" pitchFamily="34" charset="0"/>
                <a:cs typeface="Arial" pitchFamily="34" charset="-120"/>
              </a:rPr>
              <a:t>Presented By:</a:t>
            </a:r>
          </a:p>
          <a:p>
            <a:r>
              <a:rPr lang="en-US" b="1" dirty="0" smtClean="0">
                <a:solidFill>
                  <a:schemeClr val="bg1"/>
                </a:solidFill>
                <a:latin typeface="Arial" pitchFamily="34" charset="0"/>
                <a:cs typeface="Arial" pitchFamily="34" charset="-120"/>
              </a:rPr>
              <a:t>T140200414 - </a:t>
            </a:r>
            <a:r>
              <a:rPr lang="en-US" b="1" dirty="0" err="1" smtClean="0">
                <a:solidFill>
                  <a:schemeClr val="bg1"/>
                </a:solidFill>
                <a:latin typeface="Arial" pitchFamily="34" charset="0"/>
                <a:cs typeface="Arial" pitchFamily="34" charset="-120"/>
              </a:rPr>
              <a:t>Aditi</a:t>
            </a:r>
            <a:r>
              <a:rPr lang="en-US" b="1" dirty="0" smtClean="0">
                <a:solidFill>
                  <a:schemeClr val="bg1"/>
                </a:solidFill>
                <a:latin typeface="Arial" pitchFamily="34" charset="0"/>
                <a:cs typeface="Arial" pitchFamily="34" charset="-120"/>
              </a:rPr>
              <a:t> </a:t>
            </a:r>
            <a:r>
              <a:rPr lang="en-US" b="1" dirty="0" err="1" smtClean="0">
                <a:solidFill>
                  <a:schemeClr val="bg1"/>
                </a:solidFill>
                <a:latin typeface="Arial" pitchFamily="34" charset="0"/>
                <a:cs typeface="Arial" pitchFamily="34" charset="-120"/>
              </a:rPr>
              <a:t>Gurav</a:t>
            </a:r>
            <a:r>
              <a:rPr lang="en-US" b="1" dirty="0" smtClean="0">
                <a:solidFill>
                  <a:schemeClr val="bg1"/>
                </a:solidFill>
                <a:latin typeface="Arial" pitchFamily="34" charset="0"/>
                <a:cs typeface="Arial" pitchFamily="34" charset="-120"/>
              </a:rPr>
              <a:t> </a:t>
            </a:r>
          </a:p>
          <a:p>
            <a:r>
              <a:rPr lang="en-US" b="1" dirty="0" smtClean="0">
                <a:solidFill>
                  <a:schemeClr val="bg1"/>
                </a:solidFill>
                <a:latin typeface="Arial" pitchFamily="34" charset="0"/>
                <a:cs typeface="Arial" pitchFamily="34" charset="-120"/>
              </a:rPr>
              <a:t>T140200418 - </a:t>
            </a:r>
            <a:r>
              <a:rPr lang="en-US" b="1" dirty="0" err="1" smtClean="0">
                <a:solidFill>
                  <a:schemeClr val="bg1"/>
                </a:solidFill>
                <a:latin typeface="Arial" pitchFamily="34" charset="0"/>
                <a:cs typeface="Arial" pitchFamily="34" charset="-120"/>
              </a:rPr>
              <a:t>Himanshi</a:t>
            </a:r>
            <a:r>
              <a:rPr lang="en-US" b="1" dirty="0" smtClean="0">
                <a:solidFill>
                  <a:schemeClr val="bg1"/>
                </a:solidFill>
                <a:latin typeface="Arial" pitchFamily="34" charset="0"/>
                <a:cs typeface="Arial" pitchFamily="34" charset="-120"/>
              </a:rPr>
              <a:t> </a:t>
            </a:r>
            <a:r>
              <a:rPr lang="en-US" b="1" dirty="0" err="1" smtClean="0">
                <a:solidFill>
                  <a:schemeClr val="bg1"/>
                </a:solidFill>
                <a:latin typeface="Arial" pitchFamily="34" charset="0"/>
                <a:cs typeface="Arial" pitchFamily="34" charset="-120"/>
              </a:rPr>
              <a:t>Bhere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3827" y="447576"/>
            <a:ext cx="10835640" cy="1097280"/>
          </a:xfrm>
          <a:prstGeom prst="rect">
            <a:avLst/>
          </a:prstGeom>
          <a:noFill/>
          <a:ln/>
        </p:spPr>
        <p:txBody>
          <a:bodyPr wrap="square" rtlCol="0" anchor="ctr"/>
          <a:lstStyle/>
          <a:p>
            <a:r>
              <a:rPr lang="en-IN" sz="3200" b="1" dirty="0">
                <a:solidFill>
                  <a:srgbClr val="002060"/>
                </a:solidFill>
                <a:latin typeface="Times New Roman" pitchFamily="18" charset="0"/>
                <a:cs typeface="Times New Roman" pitchFamily="18" charset="0"/>
              </a:rPr>
              <a:t>Problem Statement &amp; Objective</a:t>
            </a:r>
            <a:endParaRPr lang="en-US" sz="2800" dirty="0">
              <a:solidFill>
                <a:srgbClr val="002060"/>
              </a:solidFill>
              <a:latin typeface="Times New Roman" pitchFamily="18" charset="0"/>
              <a:cs typeface="Times New Roman" pitchFamily="18" charset="0"/>
            </a:endParaRPr>
          </a:p>
        </p:txBody>
      </p:sp>
      <p:sp>
        <p:nvSpPr>
          <p:cNvPr id="3" name="Text 1"/>
          <p:cNvSpPr/>
          <p:nvPr/>
        </p:nvSpPr>
        <p:spPr>
          <a:xfrm>
            <a:off x="700238" y="4208165"/>
            <a:ext cx="7315200" cy="365760"/>
          </a:xfrm>
          <a:prstGeom prst="rect">
            <a:avLst/>
          </a:prstGeom>
          <a:noFill/>
          <a:ln/>
        </p:spPr>
        <p:txBody>
          <a:bodyPr wrap="square" rtlCol="0" anchor="ctr"/>
          <a:lstStyle/>
          <a:p>
            <a:pPr marL="0" indent="0">
              <a:buNone/>
            </a:pPr>
            <a:endParaRPr lang="en-US" sz="1400" dirty="0"/>
          </a:p>
        </p:txBody>
      </p:sp>
      <p:sp>
        <p:nvSpPr>
          <p:cNvPr id="24" name="Text 22"/>
          <p:cNvSpPr/>
          <p:nvPr/>
        </p:nvSpPr>
        <p:spPr>
          <a:xfrm>
            <a:off x="543827" y="411480"/>
            <a:ext cx="6995160" cy="4030579"/>
          </a:xfrm>
          <a:prstGeom prst="rect">
            <a:avLst/>
          </a:prstGeom>
          <a:noFill/>
          <a:ln/>
        </p:spPr>
        <p:txBody>
          <a:bodyPr wrap="square" rtlCol="0" anchor="ctr"/>
          <a:lstStyle/>
          <a:p>
            <a:r>
              <a:rPr lang="en-US" sz="2000" dirty="0">
                <a:latin typeface="Arial" pitchFamily="34" charset="0"/>
                <a:cs typeface="Arial" pitchFamily="34" charset="0"/>
              </a:rPr>
              <a:t>Retail stores generate large volumes of sales data across various products, customers, categories, and regions. Analyzing this data manually using spreadsheets is time-consuming and makes it difficult to identify sales trends, profitable products, regional performance, and business </a:t>
            </a:r>
            <a:r>
              <a:rPr lang="en-US" sz="2000" dirty="0" smtClean="0">
                <a:latin typeface="Arial" pitchFamily="34" charset="0"/>
                <a:cs typeface="Arial" pitchFamily="34" charset="0"/>
              </a:rPr>
              <a:t>opportunities.</a:t>
            </a:r>
            <a:endParaRPr lang="en-US" sz="2000" dirty="0">
              <a:latin typeface="Arial" pitchFamily="34" charset="0"/>
              <a:cs typeface="Arial" pitchFamily="34" charset="0"/>
            </a:endParaRPr>
          </a:p>
        </p:txBody>
      </p:sp>
      <p:sp>
        <p:nvSpPr>
          <p:cNvPr id="26" name="Shape 23"/>
          <p:cNvSpPr/>
          <p:nvPr/>
        </p:nvSpPr>
        <p:spPr>
          <a:xfrm>
            <a:off x="548640" y="3452581"/>
            <a:ext cx="6549992" cy="2703493"/>
          </a:xfrm>
          <a:prstGeom prst="roundRect">
            <a:avLst>
              <a:gd name="adj" fmla="val 3077"/>
            </a:avLst>
          </a:prstGeom>
          <a:solidFill>
            <a:srgbClr val="002060"/>
          </a:solidFill>
          <a:ln/>
        </p:spPr>
      </p:sp>
      <p:sp>
        <p:nvSpPr>
          <p:cNvPr id="27" name="Text 24"/>
          <p:cNvSpPr/>
          <p:nvPr/>
        </p:nvSpPr>
        <p:spPr>
          <a:xfrm>
            <a:off x="700238" y="3583001"/>
            <a:ext cx="4572000" cy="320040"/>
          </a:xfrm>
          <a:prstGeom prst="rect">
            <a:avLst/>
          </a:prstGeom>
          <a:noFill/>
          <a:ln/>
        </p:spPr>
        <p:txBody>
          <a:bodyPr wrap="square" rtlCol="0" anchor="ctr"/>
          <a:lstStyle/>
          <a:p>
            <a:pPr marL="0" indent="0">
              <a:buNone/>
            </a:pPr>
            <a:r>
              <a:rPr lang="en-US" sz="2000" b="1" dirty="0" smtClean="0">
                <a:solidFill>
                  <a:srgbClr val="FF6B35"/>
                </a:solidFill>
                <a:latin typeface="Arial" pitchFamily="34" charset="0"/>
                <a:cs typeface="Arial" pitchFamily="34" charset="-120"/>
              </a:rPr>
              <a:t>Objective</a:t>
            </a:r>
            <a:endParaRPr lang="en-US" sz="2000" dirty="0"/>
          </a:p>
        </p:txBody>
      </p:sp>
      <p:sp>
        <p:nvSpPr>
          <p:cNvPr id="28" name="Text 25"/>
          <p:cNvSpPr/>
          <p:nvPr/>
        </p:nvSpPr>
        <p:spPr>
          <a:xfrm>
            <a:off x="6766560" y="4645152"/>
            <a:ext cx="4617720" cy="1691640"/>
          </a:xfrm>
          <a:prstGeom prst="rect">
            <a:avLst/>
          </a:prstGeom>
          <a:noFill/>
          <a:ln/>
        </p:spPr>
        <p:txBody>
          <a:bodyPr wrap="square" rtlCol="0" anchor="ctr"/>
          <a:lstStyle/>
          <a:p>
            <a:pPr marL="177800" indent="-177800">
              <a:lnSpc>
                <a:spcPct val="115000"/>
              </a:lnSpc>
              <a:spcAft>
                <a:spcPts val="1000"/>
              </a:spcAft>
              <a:buSzPct val="100000"/>
              <a:buChar char="•"/>
            </a:pPr>
            <a:endParaRPr lang="en-US" sz="1200" dirty="0"/>
          </a:p>
        </p:txBody>
      </p:sp>
      <p:sp>
        <p:nvSpPr>
          <p:cNvPr id="30" name="TextBox 29"/>
          <p:cNvSpPr txBox="1"/>
          <p:nvPr/>
        </p:nvSpPr>
        <p:spPr>
          <a:xfrm>
            <a:off x="700238" y="3903041"/>
            <a:ext cx="5351646" cy="2308324"/>
          </a:xfrm>
          <a:prstGeom prst="rect">
            <a:avLst/>
          </a:prstGeom>
          <a:noFill/>
        </p:spPr>
        <p:txBody>
          <a:bodyPr wrap="square" rtlCol="0">
            <a:spAutoFit/>
          </a:bodyPr>
          <a:lstStyle/>
          <a:p>
            <a:pPr lvl="0" fontAlgn="base">
              <a:spcBef>
                <a:spcPct val="0"/>
              </a:spcBef>
              <a:spcAft>
                <a:spcPct val="0"/>
              </a:spcAft>
              <a:buFontTx/>
              <a:buChar char="•"/>
            </a:pPr>
            <a:r>
              <a:rPr lang="en-US" dirty="0">
                <a:solidFill>
                  <a:schemeClr val="bg2"/>
                </a:solidFill>
                <a:latin typeface="Arial" charset="0"/>
                <a:cs typeface="Arial" charset="0"/>
              </a:rPr>
              <a:t>Monitor overall sales, profit, and quantity sold </a:t>
            </a:r>
          </a:p>
          <a:p>
            <a:pPr lvl="0" fontAlgn="base">
              <a:spcBef>
                <a:spcPct val="0"/>
              </a:spcBef>
              <a:spcAft>
                <a:spcPct val="0"/>
              </a:spcAft>
              <a:buFontTx/>
              <a:buChar char="•"/>
            </a:pPr>
            <a:r>
              <a:rPr lang="en-US" dirty="0" smtClean="0">
                <a:solidFill>
                  <a:schemeClr val="bg2"/>
                </a:solidFill>
                <a:latin typeface="Arial" charset="0"/>
                <a:cs typeface="Arial" charset="0"/>
              </a:rPr>
              <a:t>Identify </a:t>
            </a:r>
            <a:r>
              <a:rPr lang="en-US" dirty="0">
                <a:solidFill>
                  <a:schemeClr val="bg2"/>
                </a:solidFill>
                <a:latin typeface="Arial" charset="0"/>
                <a:cs typeface="Arial" charset="0"/>
              </a:rPr>
              <a:t>top-performing and loss-making products </a:t>
            </a:r>
          </a:p>
          <a:p>
            <a:pPr lvl="0" fontAlgn="base">
              <a:spcBef>
                <a:spcPct val="0"/>
              </a:spcBef>
              <a:spcAft>
                <a:spcPct val="0"/>
              </a:spcAft>
              <a:buFontTx/>
              <a:buChar char="•"/>
            </a:pPr>
            <a:r>
              <a:rPr lang="en-US" dirty="0">
                <a:solidFill>
                  <a:schemeClr val="bg2"/>
                </a:solidFill>
                <a:latin typeface="Arial" charset="0"/>
                <a:cs typeface="Arial" charset="0"/>
              </a:rPr>
              <a:t>Track sales and profit trends over time </a:t>
            </a:r>
          </a:p>
          <a:p>
            <a:pPr lvl="0" fontAlgn="base">
              <a:spcBef>
                <a:spcPct val="0"/>
              </a:spcBef>
              <a:spcAft>
                <a:spcPct val="0"/>
              </a:spcAft>
              <a:buFontTx/>
              <a:buChar char="•"/>
            </a:pPr>
            <a:r>
              <a:rPr lang="en-US" dirty="0">
                <a:solidFill>
                  <a:schemeClr val="bg2"/>
                </a:solidFill>
                <a:latin typeface="Arial" charset="0"/>
                <a:cs typeface="Arial" charset="0"/>
              </a:rPr>
              <a:t>Compare performance across different states and regions </a:t>
            </a:r>
          </a:p>
          <a:p>
            <a:pPr lvl="0" fontAlgn="base">
              <a:spcBef>
                <a:spcPct val="0"/>
              </a:spcBef>
              <a:spcAft>
                <a:spcPct val="0"/>
              </a:spcAft>
              <a:buFontTx/>
              <a:buChar char="•"/>
            </a:pPr>
            <a:r>
              <a:rPr lang="en-US" dirty="0">
                <a:solidFill>
                  <a:schemeClr val="bg2"/>
                </a:solidFill>
                <a:latin typeface="Arial" charset="0"/>
                <a:cs typeface="Arial" charset="0"/>
              </a:rPr>
              <a:t>Provide actionable insights to support strategic business decision-making </a:t>
            </a:r>
          </a:p>
          <a:p>
            <a:endParaRPr lang="en-IN" dirty="0"/>
          </a:p>
        </p:txBody>
      </p:sp>
      <p:pic>
        <p:nvPicPr>
          <p:cNvPr id="31" name="Picture 30"/>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402146" y="234853"/>
            <a:ext cx="4473022" cy="6101939"/>
          </a:xfrm>
          <a:prstGeom prst="rect">
            <a:avLst/>
          </a:prstGeom>
        </p:spPr>
      </p:pic>
      <p:sp>
        <p:nvSpPr>
          <p:cNvPr id="32" name="Shape 4"/>
          <p:cNvSpPr/>
          <p:nvPr/>
        </p:nvSpPr>
        <p:spPr>
          <a:xfrm flipV="1">
            <a:off x="640078" y="1299412"/>
            <a:ext cx="6458554" cy="45719"/>
          </a:xfrm>
          <a:prstGeom prst="rect">
            <a:avLst/>
          </a:prstGeom>
          <a:solidFill>
            <a:srgbClr val="FF6B35"/>
          </a:solidFill>
          <a:ln/>
        </p:spPr>
      </p:sp>
    </p:spTree>
    <p:extLst>
      <p:ext uri="{BB962C8B-B14F-4D97-AF65-F5344CB8AC3E}">
        <p14:creationId xmlns:p14="http://schemas.microsoft.com/office/powerpoint/2010/main" val="10448895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smtClean="0">
                <a:solidFill>
                  <a:srgbClr val="1B2A4A"/>
                </a:solidFill>
                <a:latin typeface="Cambria" pitchFamily="34" charset="0"/>
                <a:ea typeface="Cambria" pitchFamily="34" charset="-122"/>
                <a:cs typeface="Cambria" pitchFamily="34" charset="-120"/>
              </a:rPr>
              <a:t>Executive Dashboard Summary</a:t>
            </a:r>
            <a:endParaRPr lang="en-US" sz="3000" dirty="0"/>
          </a:p>
        </p:txBody>
      </p:sp>
      <p:sp>
        <p:nvSpPr>
          <p:cNvPr id="3" name="Text 1"/>
          <p:cNvSpPr/>
          <p:nvPr/>
        </p:nvSpPr>
        <p:spPr>
          <a:xfrm>
            <a:off x="548640" y="960120"/>
            <a:ext cx="7315200" cy="365760"/>
          </a:xfrm>
          <a:prstGeom prst="rect">
            <a:avLst/>
          </a:prstGeom>
          <a:noFill/>
          <a:ln/>
        </p:spPr>
        <p:txBody>
          <a:bodyPr wrap="square" rtlCol="0" anchor="ctr"/>
          <a:lstStyle/>
          <a:p>
            <a:pPr marL="0" indent="0">
              <a:buNone/>
            </a:pPr>
            <a:r>
              <a:rPr lang="en-US" sz="1400" dirty="0">
                <a:solidFill>
                  <a:srgbClr val="6B7A8F"/>
                </a:solidFill>
                <a:latin typeface="Arial" pitchFamily="34" charset="0"/>
                <a:ea typeface="Arial" pitchFamily="34" charset="-122"/>
                <a:cs typeface="Arial" pitchFamily="34" charset="-120"/>
              </a:rPr>
              <a:t>Headline KPIs across the full reporting period</a:t>
            </a:r>
            <a:endParaRPr lang="en-US" sz="1400" dirty="0"/>
          </a:p>
        </p:txBody>
      </p:sp>
      <p:sp>
        <p:nvSpPr>
          <p:cNvPr id="4" name="Shape 2"/>
          <p:cNvSpPr/>
          <p:nvPr/>
        </p:nvSpPr>
        <p:spPr>
          <a:xfrm>
            <a:off x="548640" y="1600200"/>
            <a:ext cx="2542032" cy="1737360"/>
          </a:xfrm>
          <a:prstGeom prst="roundRect">
            <a:avLst>
              <a:gd name="adj" fmla="val 4211"/>
            </a:avLst>
          </a:prstGeom>
          <a:solidFill>
            <a:srgbClr val="FFFFFF"/>
          </a:solidFill>
          <a:ln w="12700">
            <a:solidFill>
              <a:srgbClr val="E2E8F0"/>
            </a:solidFill>
            <a:prstDash val="solid"/>
          </a:ln>
          <a:effectLst>
            <a:outerShdw blurRad="101600" dist="38100" dir="5400000" algn="bl" rotWithShape="0">
              <a:srgbClr val="1B2A4A">
                <a:alpha val="12000"/>
              </a:srgbClr>
            </a:outerShdw>
          </a:effectLst>
        </p:spPr>
      </p:sp>
      <p:sp>
        <p:nvSpPr>
          <p:cNvPr id="5" name="Shape 3"/>
          <p:cNvSpPr/>
          <p:nvPr/>
        </p:nvSpPr>
        <p:spPr>
          <a:xfrm>
            <a:off x="777240" y="1856232"/>
            <a:ext cx="457200" cy="54864"/>
          </a:xfrm>
          <a:prstGeom prst="rect">
            <a:avLst/>
          </a:prstGeom>
          <a:solidFill>
            <a:srgbClr val="FF6B35"/>
          </a:solidFill>
          <a:ln/>
        </p:spPr>
      </p:sp>
      <p:sp>
        <p:nvSpPr>
          <p:cNvPr id="6" name="Text 4"/>
          <p:cNvSpPr/>
          <p:nvPr/>
        </p:nvSpPr>
        <p:spPr>
          <a:xfrm>
            <a:off x="777240" y="1984248"/>
            <a:ext cx="2084832" cy="320040"/>
          </a:xfrm>
          <a:prstGeom prst="rect">
            <a:avLst/>
          </a:prstGeom>
          <a:noFill/>
          <a:ln/>
        </p:spPr>
        <p:txBody>
          <a:bodyPr wrap="square" rtlCol="0" anchor="ctr"/>
          <a:lstStyle/>
          <a:p>
            <a:pPr marL="0" indent="0">
              <a:buNone/>
            </a:pPr>
            <a:r>
              <a:rPr lang="en-US" sz="1150" b="1" kern="0" spc="100" dirty="0">
                <a:solidFill>
                  <a:srgbClr val="6B7A8F"/>
                </a:solidFill>
                <a:latin typeface="Arial" pitchFamily="34" charset="0"/>
                <a:ea typeface="Arial" pitchFamily="34" charset="-122"/>
                <a:cs typeface="Arial" pitchFamily="34" charset="-120"/>
              </a:rPr>
              <a:t>TOTAL SALES</a:t>
            </a:r>
            <a:endParaRPr lang="en-US" sz="1150" dirty="0"/>
          </a:p>
        </p:txBody>
      </p:sp>
      <p:sp>
        <p:nvSpPr>
          <p:cNvPr id="7" name="Text 5"/>
          <p:cNvSpPr/>
          <p:nvPr/>
        </p:nvSpPr>
        <p:spPr>
          <a:xfrm>
            <a:off x="777240" y="2286000"/>
            <a:ext cx="2084832" cy="640080"/>
          </a:xfrm>
          <a:prstGeom prst="rect">
            <a:avLst/>
          </a:prstGeom>
          <a:noFill/>
          <a:ln/>
        </p:spPr>
        <p:txBody>
          <a:bodyPr wrap="square" rtlCol="0" anchor="ctr"/>
          <a:lstStyle/>
          <a:p>
            <a:pPr marL="0" indent="0">
              <a:buNone/>
            </a:pPr>
            <a:r>
              <a:rPr lang="en-US" sz="3400" b="1" dirty="0">
                <a:solidFill>
                  <a:srgbClr val="1B2A4A"/>
                </a:solidFill>
                <a:latin typeface="Arial" pitchFamily="34" charset="0"/>
                <a:ea typeface="Arial" pitchFamily="34" charset="-122"/>
                <a:cs typeface="Arial" pitchFamily="34" charset="-120"/>
              </a:rPr>
              <a:t>$725K</a:t>
            </a:r>
            <a:endParaRPr lang="en-US" sz="3400" dirty="0"/>
          </a:p>
        </p:txBody>
      </p:sp>
      <p:sp>
        <p:nvSpPr>
          <p:cNvPr id="8" name="Text 6"/>
          <p:cNvSpPr/>
          <p:nvPr/>
        </p:nvSpPr>
        <p:spPr>
          <a:xfrm>
            <a:off x="777240" y="2953512"/>
            <a:ext cx="2084832" cy="320040"/>
          </a:xfrm>
          <a:prstGeom prst="rect">
            <a:avLst/>
          </a:prstGeom>
          <a:noFill/>
          <a:ln/>
        </p:spPr>
        <p:txBody>
          <a:bodyPr wrap="square" rtlCol="0" anchor="ctr"/>
          <a:lstStyle/>
          <a:p>
            <a:pPr marL="0" indent="0">
              <a:buNone/>
            </a:pPr>
            <a:r>
              <a:rPr lang="en-US" sz="1100" dirty="0">
                <a:solidFill>
                  <a:srgbClr val="6B7A8F"/>
                </a:solidFill>
                <a:latin typeface="Arial" pitchFamily="34" charset="0"/>
                <a:ea typeface="Arial" pitchFamily="34" charset="-122"/>
                <a:cs typeface="Arial" pitchFamily="34" charset="-120"/>
              </a:rPr>
              <a:t>$725,458</a:t>
            </a:r>
            <a:endParaRPr lang="en-US" sz="1100" dirty="0"/>
          </a:p>
        </p:txBody>
      </p:sp>
      <p:sp>
        <p:nvSpPr>
          <p:cNvPr id="9" name="Shape 7"/>
          <p:cNvSpPr/>
          <p:nvPr/>
        </p:nvSpPr>
        <p:spPr>
          <a:xfrm>
            <a:off x="3383280" y="1600200"/>
            <a:ext cx="2542032" cy="1737360"/>
          </a:xfrm>
          <a:prstGeom prst="roundRect">
            <a:avLst>
              <a:gd name="adj" fmla="val 4211"/>
            </a:avLst>
          </a:prstGeom>
          <a:solidFill>
            <a:srgbClr val="FFFFFF"/>
          </a:solidFill>
          <a:ln w="12700">
            <a:solidFill>
              <a:srgbClr val="E2E8F0"/>
            </a:solidFill>
            <a:prstDash val="solid"/>
          </a:ln>
          <a:effectLst>
            <a:outerShdw blurRad="101600" dist="38100" dir="5400000" algn="bl" rotWithShape="0">
              <a:srgbClr val="1B2A4A">
                <a:alpha val="12000"/>
              </a:srgbClr>
            </a:outerShdw>
          </a:effectLst>
        </p:spPr>
      </p:sp>
      <p:sp>
        <p:nvSpPr>
          <p:cNvPr id="10" name="Shape 8"/>
          <p:cNvSpPr/>
          <p:nvPr/>
        </p:nvSpPr>
        <p:spPr>
          <a:xfrm>
            <a:off x="3611880" y="1856232"/>
            <a:ext cx="457200" cy="54864"/>
          </a:xfrm>
          <a:prstGeom prst="rect">
            <a:avLst/>
          </a:prstGeom>
          <a:solidFill>
            <a:srgbClr val="FF6B35"/>
          </a:solidFill>
          <a:ln/>
        </p:spPr>
      </p:sp>
      <p:sp>
        <p:nvSpPr>
          <p:cNvPr id="11" name="Text 9"/>
          <p:cNvSpPr/>
          <p:nvPr/>
        </p:nvSpPr>
        <p:spPr>
          <a:xfrm>
            <a:off x="3611880" y="1984248"/>
            <a:ext cx="2084832" cy="320040"/>
          </a:xfrm>
          <a:prstGeom prst="rect">
            <a:avLst/>
          </a:prstGeom>
          <a:noFill/>
          <a:ln/>
        </p:spPr>
        <p:txBody>
          <a:bodyPr wrap="square" rtlCol="0" anchor="ctr"/>
          <a:lstStyle/>
          <a:p>
            <a:pPr marL="0" indent="0">
              <a:buNone/>
            </a:pPr>
            <a:r>
              <a:rPr lang="en-US" sz="1150" b="1" kern="0" spc="100" dirty="0">
                <a:solidFill>
                  <a:srgbClr val="6B7A8F"/>
                </a:solidFill>
                <a:latin typeface="Arial" pitchFamily="34" charset="0"/>
                <a:ea typeface="Arial" pitchFamily="34" charset="-122"/>
                <a:cs typeface="Arial" pitchFamily="34" charset="-120"/>
              </a:rPr>
              <a:t>TOTAL PROFIT</a:t>
            </a:r>
            <a:endParaRPr lang="en-US" sz="1150" dirty="0"/>
          </a:p>
        </p:txBody>
      </p:sp>
      <p:sp>
        <p:nvSpPr>
          <p:cNvPr id="12" name="Text 10"/>
          <p:cNvSpPr/>
          <p:nvPr/>
        </p:nvSpPr>
        <p:spPr>
          <a:xfrm>
            <a:off x="3611880" y="2286000"/>
            <a:ext cx="2084832" cy="640080"/>
          </a:xfrm>
          <a:prstGeom prst="rect">
            <a:avLst/>
          </a:prstGeom>
          <a:noFill/>
          <a:ln/>
        </p:spPr>
        <p:txBody>
          <a:bodyPr wrap="square" rtlCol="0" anchor="ctr"/>
          <a:lstStyle/>
          <a:p>
            <a:pPr marL="0" indent="0">
              <a:buNone/>
            </a:pPr>
            <a:r>
              <a:rPr lang="en-US" sz="3400" b="1" dirty="0">
                <a:solidFill>
                  <a:srgbClr val="1B2A4A"/>
                </a:solidFill>
                <a:latin typeface="Arial" pitchFamily="34" charset="0"/>
                <a:ea typeface="Arial" pitchFamily="34" charset="-122"/>
                <a:cs typeface="Arial" pitchFamily="34" charset="-120"/>
              </a:rPr>
              <a:t>$108K</a:t>
            </a:r>
            <a:endParaRPr lang="en-US" sz="3400" dirty="0"/>
          </a:p>
        </p:txBody>
      </p:sp>
      <p:sp>
        <p:nvSpPr>
          <p:cNvPr id="13" name="Text 11"/>
          <p:cNvSpPr/>
          <p:nvPr/>
        </p:nvSpPr>
        <p:spPr>
          <a:xfrm>
            <a:off x="3611880" y="2953512"/>
            <a:ext cx="2084832" cy="320040"/>
          </a:xfrm>
          <a:prstGeom prst="rect">
            <a:avLst/>
          </a:prstGeom>
          <a:noFill/>
          <a:ln/>
        </p:spPr>
        <p:txBody>
          <a:bodyPr wrap="square" rtlCol="0" anchor="ctr"/>
          <a:lstStyle/>
          <a:p>
            <a:pPr marL="0" indent="0">
              <a:buNone/>
            </a:pPr>
            <a:r>
              <a:rPr lang="en-US" sz="1100" dirty="0">
                <a:solidFill>
                  <a:srgbClr val="6B7A8F"/>
                </a:solidFill>
                <a:latin typeface="Arial" pitchFamily="34" charset="0"/>
                <a:ea typeface="Arial" pitchFamily="34" charset="-122"/>
                <a:cs typeface="Arial" pitchFamily="34" charset="-120"/>
              </a:rPr>
              <a:t>$108,418</a:t>
            </a:r>
            <a:endParaRPr lang="en-US" sz="1100" dirty="0"/>
          </a:p>
        </p:txBody>
      </p:sp>
      <p:sp>
        <p:nvSpPr>
          <p:cNvPr id="14" name="Shape 12"/>
          <p:cNvSpPr/>
          <p:nvPr/>
        </p:nvSpPr>
        <p:spPr>
          <a:xfrm>
            <a:off x="6217920" y="1600200"/>
            <a:ext cx="2542032" cy="1737360"/>
          </a:xfrm>
          <a:prstGeom prst="roundRect">
            <a:avLst>
              <a:gd name="adj" fmla="val 4211"/>
            </a:avLst>
          </a:prstGeom>
          <a:solidFill>
            <a:srgbClr val="FFFFFF"/>
          </a:solidFill>
          <a:ln w="12700">
            <a:solidFill>
              <a:srgbClr val="E2E8F0"/>
            </a:solidFill>
            <a:prstDash val="solid"/>
          </a:ln>
          <a:effectLst>
            <a:outerShdw blurRad="101600" dist="38100" dir="5400000" algn="bl" rotWithShape="0">
              <a:srgbClr val="1B2A4A">
                <a:alpha val="12000"/>
              </a:srgbClr>
            </a:outerShdw>
          </a:effectLst>
        </p:spPr>
      </p:sp>
      <p:sp>
        <p:nvSpPr>
          <p:cNvPr id="15" name="Shape 13"/>
          <p:cNvSpPr/>
          <p:nvPr/>
        </p:nvSpPr>
        <p:spPr>
          <a:xfrm>
            <a:off x="6446520" y="1856232"/>
            <a:ext cx="457200" cy="54864"/>
          </a:xfrm>
          <a:prstGeom prst="rect">
            <a:avLst/>
          </a:prstGeom>
          <a:solidFill>
            <a:srgbClr val="FF6B35"/>
          </a:solidFill>
          <a:ln/>
        </p:spPr>
      </p:sp>
      <p:sp>
        <p:nvSpPr>
          <p:cNvPr id="16" name="Text 14"/>
          <p:cNvSpPr/>
          <p:nvPr/>
        </p:nvSpPr>
        <p:spPr>
          <a:xfrm>
            <a:off x="6446520" y="1984248"/>
            <a:ext cx="2084832" cy="320040"/>
          </a:xfrm>
          <a:prstGeom prst="rect">
            <a:avLst/>
          </a:prstGeom>
          <a:noFill/>
          <a:ln/>
        </p:spPr>
        <p:txBody>
          <a:bodyPr wrap="square" rtlCol="0" anchor="ctr"/>
          <a:lstStyle/>
          <a:p>
            <a:pPr marL="0" indent="0">
              <a:buNone/>
            </a:pPr>
            <a:r>
              <a:rPr lang="en-US" sz="1150" b="1" kern="0" spc="100" dirty="0">
                <a:solidFill>
                  <a:srgbClr val="6B7A8F"/>
                </a:solidFill>
                <a:latin typeface="Arial" pitchFamily="34" charset="0"/>
                <a:ea typeface="Arial" pitchFamily="34" charset="-122"/>
                <a:cs typeface="Arial" pitchFamily="34" charset="-120"/>
              </a:rPr>
              <a:t>PROFIT MARGIN</a:t>
            </a:r>
            <a:endParaRPr lang="en-US" sz="1150" dirty="0"/>
          </a:p>
        </p:txBody>
      </p:sp>
      <p:sp>
        <p:nvSpPr>
          <p:cNvPr id="17" name="Text 15"/>
          <p:cNvSpPr/>
          <p:nvPr/>
        </p:nvSpPr>
        <p:spPr>
          <a:xfrm>
            <a:off x="6446520" y="2286000"/>
            <a:ext cx="2084832" cy="640080"/>
          </a:xfrm>
          <a:prstGeom prst="rect">
            <a:avLst/>
          </a:prstGeom>
          <a:noFill/>
          <a:ln/>
        </p:spPr>
        <p:txBody>
          <a:bodyPr wrap="square" rtlCol="0" anchor="ctr"/>
          <a:lstStyle/>
          <a:p>
            <a:pPr marL="0" indent="0">
              <a:buNone/>
            </a:pPr>
            <a:r>
              <a:rPr lang="en-US" sz="3400" b="1" dirty="0">
                <a:solidFill>
                  <a:srgbClr val="1B2A4A"/>
                </a:solidFill>
                <a:latin typeface="Arial" pitchFamily="34" charset="0"/>
                <a:ea typeface="Arial" pitchFamily="34" charset="-122"/>
                <a:cs typeface="Arial" pitchFamily="34" charset="-120"/>
              </a:rPr>
              <a:t>14.94%</a:t>
            </a:r>
            <a:endParaRPr lang="en-US" sz="3400" dirty="0"/>
          </a:p>
        </p:txBody>
      </p:sp>
      <p:sp>
        <p:nvSpPr>
          <p:cNvPr id="18" name="Text 16"/>
          <p:cNvSpPr/>
          <p:nvPr/>
        </p:nvSpPr>
        <p:spPr>
          <a:xfrm>
            <a:off x="6446520" y="2953512"/>
            <a:ext cx="2084832" cy="320040"/>
          </a:xfrm>
          <a:prstGeom prst="rect">
            <a:avLst/>
          </a:prstGeom>
          <a:noFill/>
          <a:ln/>
        </p:spPr>
        <p:txBody>
          <a:bodyPr wrap="square" rtlCol="0" anchor="ctr"/>
          <a:lstStyle/>
          <a:p>
            <a:pPr marL="0" indent="0">
              <a:buNone/>
            </a:pPr>
            <a:r>
              <a:rPr lang="en-US" sz="1100" dirty="0">
                <a:solidFill>
                  <a:srgbClr val="6B7A8F"/>
                </a:solidFill>
                <a:latin typeface="Arial" pitchFamily="34" charset="0"/>
                <a:ea typeface="Arial" pitchFamily="34" charset="-122"/>
                <a:cs typeface="Arial" pitchFamily="34" charset="-120"/>
              </a:rPr>
              <a:t>Profit / Sales</a:t>
            </a:r>
            <a:endParaRPr lang="en-US" sz="1100" dirty="0"/>
          </a:p>
        </p:txBody>
      </p:sp>
      <p:sp>
        <p:nvSpPr>
          <p:cNvPr id="19" name="Shape 17"/>
          <p:cNvSpPr/>
          <p:nvPr/>
        </p:nvSpPr>
        <p:spPr>
          <a:xfrm>
            <a:off x="9052560" y="1600200"/>
            <a:ext cx="2542032" cy="1737360"/>
          </a:xfrm>
          <a:prstGeom prst="roundRect">
            <a:avLst>
              <a:gd name="adj" fmla="val 4211"/>
            </a:avLst>
          </a:prstGeom>
          <a:solidFill>
            <a:srgbClr val="FFFFFF"/>
          </a:solidFill>
          <a:ln w="12700">
            <a:solidFill>
              <a:srgbClr val="E2E8F0"/>
            </a:solidFill>
            <a:prstDash val="solid"/>
          </a:ln>
          <a:effectLst>
            <a:outerShdw blurRad="101600" dist="38100" dir="5400000" algn="bl" rotWithShape="0">
              <a:srgbClr val="1B2A4A">
                <a:alpha val="12000"/>
              </a:srgbClr>
            </a:outerShdw>
          </a:effectLst>
        </p:spPr>
      </p:sp>
      <p:sp>
        <p:nvSpPr>
          <p:cNvPr id="20" name="Shape 18"/>
          <p:cNvSpPr/>
          <p:nvPr/>
        </p:nvSpPr>
        <p:spPr>
          <a:xfrm>
            <a:off x="9281160" y="1856232"/>
            <a:ext cx="457200" cy="54864"/>
          </a:xfrm>
          <a:prstGeom prst="rect">
            <a:avLst/>
          </a:prstGeom>
          <a:solidFill>
            <a:srgbClr val="FF6B35"/>
          </a:solidFill>
          <a:ln/>
        </p:spPr>
      </p:sp>
      <p:sp>
        <p:nvSpPr>
          <p:cNvPr id="21" name="Text 19"/>
          <p:cNvSpPr/>
          <p:nvPr/>
        </p:nvSpPr>
        <p:spPr>
          <a:xfrm>
            <a:off x="9281160" y="1984248"/>
            <a:ext cx="2084832" cy="320040"/>
          </a:xfrm>
          <a:prstGeom prst="rect">
            <a:avLst/>
          </a:prstGeom>
          <a:noFill/>
          <a:ln/>
        </p:spPr>
        <p:txBody>
          <a:bodyPr wrap="square" rtlCol="0" anchor="ctr"/>
          <a:lstStyle/>
          <a:p>
            <a:pPr marL="0" indent="0">
              <a:buNone/>
            </a:pPr>
            <a:r>
              <a:rPr lang="en-US" sz="1150" b="1" kern="0" spc="100" dirty="0">
                <a:solidFill>
                  <a:srgbClr val="6B7A8F"/>
                </a:solidFill>
                <a:latin typeface="Arial" pitchFamily="34" charset="0"/>
                <a:ea typeface="Arial" pitchFamily="34" charset="-122"/>
                <a:cs typeface="Arial" pitchFamily="34" charset="-120"/>
              </a:rPr>
              <a:t>TOTAL ORDERS</a:t>
            </a:r>
            <a:endParaRPr lang="en-US" sz="1150" dirty="0"/>
          </a:p>
        </p:txBody>
      </p:sp>
      <p:sp>
        <p:nvSpPr>
          <p:cNvPr id="22" name="Text 20"/>
          <p:cNvSpPr/>
          <p:nvPr/>
        </p:nvSpPr>
        <p:spPr>
          <a:xfrm>
            <a:off x="9281160" y="2286000"/>
            <a:ext cx="2084832" cy="640080"/>
          </a:xfrm>
          <a:prstGeom prst="rect">
            <a:avLst/>
          </a:prstGeom>
          <a:noFill/>
          <a:ln/>
        </p:spPr>
        <p:txBody>
          <a:bodyPr wrap="square" rtlCol="0" anchor="ctr"/>
          <a:lstStyle/>
          <a:p>
            <a:pPr marL="0" indent="0">
              <a:buNone/>
            </a:pPr>
            <a:r>
              <a:rPr lang="en-US" sz="3400" b="1" dirty="0">
                <a:solidFill>
                  <a:srgbClr val="1B2A4A"/>
                </a:solidFill>
                <a:latin typeface="Arial" pitchFamily="34" charset="0"/>
                <a:ea typeface="Arial" pitchFamily="34" charset="-122"/>
                <a:cs typeface="Arial" pitchFamily="34" charset="-120"/>
              </a:rPr>
              <a:t>1,611</a:t>
            </a:r>
            <a:endParaRPr lang="en-US" sz="3400" dirty="0"/>
          </a:p>
        </p:txBody>
      </p:sp>
      <p:sp>
        <p:nvSpPr>
          <p:cNvPr id="23" name="Text 21"/>
          <p:cNvSpPr/>
          <p:nvPr/>
        </p:nvSpPr>
        <p:spPr>
          <a:xfrm>
            <a:off x="9281160" y="2953512"/>
            <a:ext cx="2084832" cy="320040"/>
          </a:xfrm>
          <a:prstGeom prst="rect">
            <a:avLst/>
          </a:prstGeom>
          <a:noFill/>
          <a:ln/>
        </p:spPr>
        <p:txBody>
          <a:bodyPr wrap="square" rtlCol="0" anchor="ctr"/>
          <a:lstStyle/>
          <a:p>
            <a:pPr marL="0" indent="0">
              <a:buNone/>
            </a:pPr>
            <a:r>
              <a:rPr lang="en-US" sz="1100" dirty="0">
                <a:solidFill>
                  <a:srgbClr val="6B7A8F"/>
                </a:solidFill>
                <a:latin typeface="Arial" pitchFamily="34" charset="0"/>
                <a:ea typeface="Arial" pitchFamily="34" charset="-122"/>
                <a:cs typeface="Arial" pitchFamily="34" charset="-120"/>
              </a:rPr>
              <a:t>Avg delivery </a:t>
            </a:r>
            <a:r>
              <a:rPr lang="en-US" sz="1100" dirty="0" smtClean="0">
                <a:solidFill>
                  <a:srgbClr val="6B7A8F"/>
                </a:solidFill>
                <a:latin typeface="Arial" pitchFamily="34" charset="0"/>
                <a:ea typeface="Arial" pitchFamily="34" charset="-122"/>
                <a:cs typeface="Arial" pitchFamily="34" charset="-120"/>
              </a:rPr>
              <a:t>4 </a:t>
            </a:r>
            <a:r>
              <a:rPr lang="en-US" sz="1100" dirty="0" smtClean="0">
                <a:solidFill>
                  <a:srgbClr val="6B7A8F"/>
                </a:solidFill>
                <a:latin typeface="Arial" pitchFamily="34" charset="0"/>
                <a:ea typeface="Arial" pitchFamily="34" charset="-122"/>
                <a:cs typeface="Arial" pitchFamily="34" charset="-120"/>
              </a:rPr>
              <a:t>days</a:t>
            </a:r>
            <a:endParaRPr lang="en-US" sz="1100" dirty="0"/>
          </a:p>
        </p:txBody>
      </p:sp>
      <p:sp>
        <p:nvSpPr>
          <p:cNvPr id="24" name="Text 22"/>
          <p:cNvSpPr/>
          <p:nvPr/>
        </p:nvSpPr>
        <p:spPr>
          <a:xfrm>
            <a:off x="548640" y="3703320"/>
            <a:ext cx="5486400" cy="365760"/>
          </a:xfrm>
          <a:prstGeom prst="rect">
            <a:avLst/>
          </a:prstGeom>
          <a:noFill/>
          <a:ln/>
        </p:spPr>
        <p:txBody>
          <a:bodyPr wrap="square" rtlCol="0" anchor="ctr"/>
          <a:lstStyle/>
          <a:p>
            <a:pPr marL="0" indent="0">
              <a:buNone/>
            </a:pPr>
            <a:r>
              <a:rPr lang="en-US" sz="1600" b="1" dirty="0">
                <a:solidFill>
                  <a:srgbClr val="1B2A4A"/>
                </a:solidFill>
                <a:latin typeface="Arial" pitchFamily="34" charset="0"/>
                <a:ea typeface="Arial" pitchFamily="34" charset="-122"/>
                <a:cs typeface="Arial" pitchFamily="34" charset="-120"/>
              </a:rPr>
              <a:t>Sales Growth by Year</a:t>
            </a:r>
            <a:endParaRPr lang="en-US" sz="1600" dirty="0"/>
          </a:p>
        </p:txBody>
      </p:sp>
      <p:graphicFrame>
        <p:nvGraphicFramePr>
          <p:cNvPr id="25" name="Chart 0"/>
          <p:cNvGraphicFramePr/>
          <p:nvPr/>
        </p:nvGraphicFramePr>
        <p:xfrm>
          <a:off x="548640" y="4069080"/>
          <a:ext cx="55778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26" name="Shape 23"/>
          <p:cNvSpPr/>
          <p:nvPr/>
        </p:nvSpPr>
        <p:spPr>
          <a:xfrm>
            <a:off x="6446520" y="4069080"/>
            <a:ext cx="5212080" cy="2377440"/>
          </a:xfrm>
          <a:prstGeom prst="roundRect">
            <a:avLst>
              <a:gd name="adj" fmla="val 3077"/>
            </a:avLst>
          </a:prstGeom>
          <a:solidFill>
            <a:srgbClr val="1B2A4A"/>
          </a:solidFill>
          <a:ln/>
        </p:spPr>
      </p:sp>
      <p:sp>
        <p:nvSpPr>
          <p:cNvPr id="27" name="Text 24"/>
          <p:cNvSpPr/>
          <p:nvPr/>
        </p:nvSpPr>
        <p:spPr>
          <a:xfrm>
            <a:off x="6766560" y="4279392"/>
            <a:ext cx="4572000" cy="320040"/>
          </a:xfrm>
          <a:prstGeom prst="rect">
            <a:avLst/>
          </a:prstGeom>
          <a:noFill/>
          <a:ln/>
        </p:spPr>
        <p:txBody>
          <a:bodyPr wrap="square" rtlCol="0" anchor="ctr"/>
          <a:lstStyle/>
          <a:p>
            <a:pPr marL="0" indent="0">
              <a:buNone/>
            </a:pPr>
            <a:r>
              <a:rPr lang="en-US" sz="1400" b="1" dirty="0">
                <a:solidFill>
                  <a:srgbClr val="FF6B35"/>
                </a:solidFill>
                <a:latin typeface="Arial" pitchFamily="34" charset="0"/>
                <a:ea typeface="Arial" pitchFamily="34" charset="-122"/>
                <a:cs typeface="Arial" pitchFamily="34" charset="-120"/>
              </a:rPr>
              <a:t>What this tells us</a:t>
            </a:r>
            <a:endParaRPr lang="en-US" sz="1400" dirty="0"/>
          </a:p>
        </p:txBody>
      </p:sp>
      <p:sp>
        <p:nvSpPr>
          <p:cNvPr id="28" name="Text 25"/>
          <p:cNvSpPr/>
          <p:nvPr/>
        </p:nvSpPr>
        <p:spPr>
          <a:xfrm>
            <a:off x="6766560" y="4645152"/>
            <a:ext cx="4617720" cy="1691640"/>
          </a:xfrm>
          <a:prstGeom prst="rect">
            <a:avLst/>
          </a:prstGeom>
          <a:noFill/>
          <a:ln/>
        </p:spPr>
        <p:txBody>
          <a:bodyPr wrap="square" rtlCol="0" anchor="ctr"/>
          <a:lstStyle/>
          <a:p>
            <a:pPr marL="177800" indent="-177800">
              <a:lnSpc>
                <a:spcPct val="115000"/>
              </a:lnSpc>
              <a:spcAft>
                <a:spcPts val="1000"/>
              </a:spcAft>
              <a:buSzPct val="100000"/>
              <a:buChar char="•"/>
            </a:pPr>
            <a:r>
              <a:rPr lang="en-US" sz="1200" dirty="0">
                <a:solidFill>
                  <a:srgbClr val="D8E1EC"/>
                </a:solidFill>
                <a:latin typeface="Arial" pitchFamily="34" charset="0"/>
                <a:ea typeface="Arial" pitchFamily="34" charset="-122"/>
                <a:cs typeface="Arial" pitchFamily="34" charset="0"/>
              </a:rPr>
              <a:t>Sales climbed every year from 2011 to 2014, more than 70% growth </a:t>
            </a:r>
            <a:r>
              <a:rPr lang="en-US" sz="1200" dirty="0" smtClean="0">
                <a:solidFill>
                  <a:srgbClr val="D8E1EC"/>
                </a:solidFill>
                <a:latin typeface="Arial" pitchFamily="34" charset="0"/>
                <a:ea typeface="Arial" pitchFamily="34" charset="-122"/>
                <a:cs typeface="Arial" pitchFamily="34" charset="0"/>
              </a:rPr>
              <a:t>overall.</a:t>
            </a:r>
            <a:endParaRPr lang="en-US" sz="1200" dirty="0">
              <a:latin typeface="Arial" pitchFamily="34" charset="0"/>
              <a:cs typeface="Arial" pitchFamily="34" charset="0"/>
            </a:endParaRPr>
          </a:p>
          <a:p>
            <a:pPr marL="177800" indent="-177800">
              <a:lnSpc>
                <a:spcPct val="115000"/>
              </a:lnSpc>
              <a:spcAft>
                <a:spcPts val="1000"/>
              </a:spcAft>
              <a:buSzPct val="100000"/>
              <a:buChar char="•"/>
            </a:pPr>
            <a:r>
              <a:rPr lang="en-US" sz="1200" dirty="0" smtClean="0">
                <a:solidFill>
                  <a:srgbClr val="D8E1EC"/>
                </a:solidFill>
                <a:latin typeface="Arial" pitchFamily="34" charset="0"/>
                <a:ea typeface="Arial" pitchFamily="34" charset="-122"/>
                <a:cs typeface="Arial" pitchFamily="34" charset="0"/>
              </a:rPr>
              <a:t>A </a:t>
            </a:r>
            <a:r>
              <a:rPr lang="en-US" sz="1200" dirty="0">
                <a:solidFill>
                  <a:srgbClr val="D8E1EC"/>
                </a:solidFill>
                <a:latin typeface="Arial" pitchFamily="34" charset="0"/>
                <a:ea typeface="Arial" pitchFamily="34" charset="-122"/>
                <a:cs typeface="Arial" pitchFamily="34" charset="0"/>
              </a:rPr>
              <a:t>14.94% blended margin is healthy, but masks big swings between categories (next slide</a:t>
            </a:r>
            <a:r>
              <a:rPr lang="en-US" sz="1200" dirty="0" smtClean="0">
                <a:solidFill>
                  <a:srgbClr val="D8E1EC"/>
                </a:solidFill>
                <a:latin typeface="Arial" pitchFamily="34" charset="0"/>
                <a:ea typeface="Arial" pitchFamily="34" charset="-122"/>
                <a:cs typeface="Arial" pitchFamily="34" charset="0"/>
              </a:rPr>
              <a:t>).</a:t>
            </a:r>
            <a:endParaRPr lang="en-US" sz="1200" dirty="0">
              <a:latin typeface="Arial" pitchFamily="34" charset="0"/>
              <a:cs typeface="Arial" pitchFamily="34" charset="0"/>
            </a:endParaRPr>
          </a:p>
          <a:p>
            <a:pPr marL="177800" indent="-177800">
              <a:lnSpc>
                <a:spcPct val="115000"/>
              </a:lnSpc>
              <a:spcAft>
                <a:spcPts val="1000"/>
              </a:spcAft>
              <a:buSzPct val="100000"/>
              <a:buChar char="•"/>
            </a:pPr>
            <a:r>
              <a:rPr lang="en-US" sz="1200" dirty="0" smtClean="0">
                <a:solidFill>
                  <a:srgbClr val="D8E1EC"/>
                </a:solidFill>
                <a:latin typeface="Arial" pitchFamily="34" charset="0"/>
                <a:ea typeface="Arial" pitchFamily="34" charset="-122"/>
                <a:cs typeface="Arial" pitchFamily="34" charset="0"/>
              </a:rPr>
              <a:t>California </a:t>
            </a:r>
            <a:r>
              <a:rPr lang="en-US" sz="1200" dirty="0">
                <a:solidFill>
                  <a:srgbClr val="D8E1EC"/>
                </a:solidFill>
                <a:latin typeface="Arial" pitchFamily="34" charset="0"/>
                <a:ea typeface="Arial" pitchFamily="34" charset="-122"/>
                <a:cs typeface="Arial" pitchFamily="34" charset="0"/>
              </a:rPr>
              <a:t>alone drives well over half of total sales — a concentration risk worth watching.</a:t>
            </a:r>
            <a:endParaRPr lang="en-US" sz="12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7" name="Shape 0"/>
          <p:cNvSpPr/>
          <p:nvPr/>
        </p:nvSpPr>
        <p:spPr>
          <a:xfrm>
            <a:off x="8366760" y="-2331720"/>
            <a:ext cx="5486400" cy="5486400"/>
          </a:xfrm>
          <a:prstGeom prst="ellipse">
            <a:avLst/>
          </a:prstGeom>
          <a:solidFill>
            <a:srgbClr val="3E5C76">
              <a:alpha val="30000"/>
            </a:srgbClr>
          </a:solidFill>
          <a:ln/>
        </p:spPr>
      </p:sp>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Geographic Distribution</a:t>
            </a:r>
            <a:endParaRPr lang="en-US" sz="2800" dirty="0"/>
          </a:p>
        </p:txBody>
      </p:sp>
      <p:sp>
        <p:nvSpPr>
          <p:cNvPr id="3" name="Text 1"/>
          <p:cNvSpPr/>
          <p:nvPr/>
        </p:nvSpPr>
        <p:spPr>
          <a:xfrm>
            <a:off x="548640" y="960120"/>
            <a:ext cx="8229600" cy="365760"/>
          </a:xfrm>
          <a:prstGeom prst="rect">
            <a:avLst/>
          </a:prstGeom>
          <a:noFill/>
          <a:ln/>
        </p:spPr>
        <p:txBody>
          <a:bodyPr wrap="square" rtlCol="0" anchor="ctr"/>
          <a:lstStyle/>
          <a:p>
            <a:pPr marL="0" indent="0">
              <a:buNone/>
            </a:pPr>
            <a:r>
              <a:rPr lang="en-US" sz="1400" dirty="0">
                <a:solidFill>
                  <a:srgbClr val="6B7A8F"/>
                </a:solidFill>
                <a:latin typeface="Arial" pitchFamily="34" charset="0"/>
                <a:ea typeface="Arial" pitchFamily="34" charset="-122"/>
                <a:cs typeface="Arial" pitchFamily="34" charset="-120"/>
              </a:rPr>
              <a:t>Total sales by state across the footprint</a:t>
            </a:r>
            <a:endParaRPr lang="en-US" sz="1400" dirty="0"/>
          </a:p>
        </p:txBody>
      </p:sp>
      <p:graphicFrame>
        <p:nvGraphicFramePr>
          <p:cNvPr id="4" name="Chart 0"/>
          <p:cNvGraphicFramePr/>
          <p:nvPr/>
        </p:nvGraphicFramePr>
        <p:xfrm>
          <a:off x="548640" y="1508760"/>
          <a:ext cx="73152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92440" y="1508760"/>
            <a:ext cx="3566160" cy="4846320"/>
          </a:xfrm>
          <a:prstGeom prst="roundRect">
            <a:avLst>
              <a:gd name="adj" fmla="val 2051"/>
            </a:avLst>
          </a:prstGeom>
          <a:solidFill>
            <a:srgbClr val="F5F7FA"/>
          </a:solidFill>
          <a:ln w="12700">
            <a:solidFill>
              <a:srgbClr val="E2E8F0"/>
            </a:solidFill>
            <a:prstDash val="solid"/>
          </a:ln>
        </p:spPr>
      </p:sp>
      <p:sp>
        <p:nvSpPr>
          <p:cNvPr id="6" name="Text 3"/>
          <p:cNvSpPr/>
          <p:nvPr/>
        </p:nvSpPr>
        <p:spPr>
          <a:xfrm>
            <a:off x="8366760" y="1737360"/>
            <a:ext cx="3108960" cy="274320"/>
          </a:xfrm>
          <a:prstGeom prst="rect">
            <a:avLst/>
          </a:prstGeom>
          <a:noFill/>
          <a:ln/>
        </p:spPr>
        <p:txBody>
          <a:bodyPr wrap="square" rtlCol="0" anchor="ctr"/>
          <a:lstStyle/>
          <a:p>
            <a:pPr marL="0" indent="0" algn="ctr">
              <a:buNone/>
            </a:pPr>
            <a:r>
              <a:rPr lang="en-US" sz="1150" b="1" kern="0" spc="100" dirty="0" smtClean="0">
                <a:solidFill>
                  <a:srgbClr val="1B2A4A"/>
                </a:solidFill>
                <a:latin typeface="Arial" pitchFamily="34" charset="0"/>
                <a:cs typeface="Arial" pitchFamily="34" charset="-120"/>
              </a:rPr>
              <a:t>REGIONAL TAKEAWAY</a:t>
            </a:r>
            <a:endParaRPr lang="en-US" sz="1150" b="1" dirty="0"/>
          </a:p>
        </p:txBody>
      </p:sp>
      <p:sp>
        <p:nvSpPr>
          <p:cNvPr id="7" name="Text 4"/>
          <p:cNvSpPr/>
          <p:nvPr/>
        </p:nvSpPr>
        <p:spPr>
          <a:xfrm>
            <a:off x="8366760" y="2148840"/>
            <a:ext cx="3108960" cy="895149"/>
          </a:xfrm>
          <a:prstGeom prst="rect">
            <a:avLst/>
          </a:prstGeom>
          <a:noFill/>
          <a:ln/>
        </p:spPr>
        <p:txBody>
          <a:bodyPr wrap="square" rtlCol="0" anchor="ctr"/>
          <a:lstStyle/>
          <a:p>
            <a:pPr marL="0" indent="0" algn="ctr">
              <a:lnSpc>
                <a:spcPct val="120000"/>
              </a:lnSpc>
              <a:spcAft>
                <a:spcPts val="800"/>
              </a:spcAft>
              <a:buNone/>
            </a:pPr>
            <a:r>
              <a:rPr lang="en-US" sz="1600" b="1" dirty="0" smtClean="0">
                <a:solidFill>
                  <a:srgbClr val="002060"/>
                </a:solidFill>
                <a:latin typeface="Arial" pitchFamily="34" charset="0"/>
                <a:ea typeface="Arial" pitchFamily="34" charset="-122"/>
                <a:cs typeface="Arial" pitchFamily="34" charset="-120"/>
              </a:rPr>
              <a:t>CALIFORNIA GENERATES 63% OF ALL SALES</a:t>
            </a:r>
            <a:endParaRPr lang="en-US" sz="1600" dirty="0" smtClean="0">
              <a:solidFill>
                <a:srgbClr val="002060"/>
              </a:solidFill>
            </a:endParaRPr>
          </a:p>
          <a:p>
            <a:pPr marL="0" indent="0">
              <a:lnSpc>
                <a:spcPct val="120000"/>
              </a:lnSpc>
              <a:spcAft>
                <a:spcPts val="1000"/>
              </a:spcAft>
              <a:buNone/>
            </a:pPr>
            <a:r>
              <a:rPr lang="en-US" sz="1250" i="1" dirty="0" smtClean="0">
                <a:solidFill>
                  <a:srgbClr val="1B2A4A"/>
                </a:solidFill>
                <a:latin typeface="Arial" pitchFamily="34" charset="0"/>
                <a:ea typeface="Arial" pitchFamily="34" charset="-122"/>
                <a:cs typeface="Arial" pitchFamily="34" charset="-120"/>
              </a:rPr>
              <a:t>.</a:t>
            </a:r>
            <a:endParaRPr lang="en-US" sz="1600" dirty="0"/>
          </a:p>
        </p:txBody>
      </p:sp>
      <p:sp>
        <p:nvSpPr>
          <p:cNvPr id="8" name="Shape 23"/>
          <p:cNvSpPr/>
          <p:nvPr/>
        </p:nvSpPr>
        <p:spPr>
          <a:xfrm>
            <a:off x="8271166" y="2810885"/>
            <a:ext cx="3300147" cy="3356810"/>
          </a:xfrm>
          <a:prstGeom prst="roundRect">
            <a:avLst>
              <a:gd name="adj" fmla="val 3077"/>
            </a:avLst>
          </a:prstGeom>
          <a:solidFill>
            <a:srgbClr val="1B2A4A"/>
          </a:solidFill>
          <a:ln/>
        </p:spPr>
      </p:sp>
      <p:sp>
        <p:nvSpPr>
          <p:cNvPr id="9" name="Text 24"/>
          <p:cNvSpPr/>
          <p:nvPr/>
        </p:nvSpPr>
        <p:spPr>
          <a:xfrm>
            <a:off x="8286896" y="3953430"/>
            <a:ext cx="3110050" cy="535860"/>
          </a:xfrm>
          <a:prstGeom prst="rect">
            <a:avLst/>
          </a:prstGeom>
          <a:noFill/>
          <a:ln/>
        </p:spPr>
        <p:txBody>
          <a:bodyPr wrap="square" rtlCol="0" anchor="ctr"/>
          <a:lstStyle/>
          <a:p>
            <a:pPr marL="0" indent="0">
              <a:buNone/>
            </a:pPr>
            <a:r>
              <a:rPr lang="en-US" sz="1400" b="1" dirty="0">
                <a:solidFill>
                  <a:srgbClr val="FF6B35"/>
                </a:solidFill>
                <a:latin typeface="Arial" pitchFamily="34" charset="0"/>
                <a:ea typeface="Arial" pitchFamily="34" charset="-122"/>
                <a:cs typeface="Arial" pitchFamily="34" charset="-120"/>
              </a:rPr>
              <a:t>What this tells us</a:t>
            </a:r>
            <a:endParaRPr lang="en-US" sz="1400" dirty="0"/>
          </a:p>
        </p:txBody>
      </p:sp>
      <p:sp>
        <p:nvSpPr>
          <p:cNvPr id="10" name="Text 25"/>
          <p:cNvSpPr/>
          <p:nvPr/>
        </p:nvSpPr>
        <p:spPr>
          <a:xfrm>
            <a:off x="8175573" y="4263895"/>
            <a:ext cx="3210870" cy="2568055"/>
          </a:xfrm>
          <a:prstGeom prst="rect">
            <a:avLst/>
          </a:prstGeom>
          <a:noFill/>
          <a:ln/>
        </p:spPr>
        <p:txBody>
          <a:bodyPr wrap="square" rtlCol="0" anchor="t"/>
          <a:lstStyle/>
          <a:p>
            <a:pPr marL="177800" indent="-177800">
              <a:lnSpc>
                <a:spcPct val="115000"/>
              </a:lnSpc>
              <a:spcAft>
                <a:spcPts val="1000"/>
              </a:spcAft>
              <a:buSzPct val="100000"/>
              <a:buChar char="•"/>
            </a:pPr>
            <a:r>
              <a:rPr lang="en-US" sz="1200" dirty="0">
                <a:solidFill>
                  <a:schemeClr val="bg2"/>
                </a:solidFill>
                <a:latin typeface="Arial" pitchFamily="34" charset="0"/>
                <a:cs typeface="Arial" pitchFamily="34" charset="0"/>
              </a:rPr>
              <a:t>Sales grew </a:t>
            </a:r>
            <a:r>
              <a:rPr lang="en-US" sz="1200" dirty="0" smtClean="0">
                <a:solidFill>
                  <a:schemeClr val="bg2"/>
                </a:solidFill>
                <a:latin typeface="Arial" pitchFamily="34" charset="0"/>
                <a:cs typeface="Arial" pitchFamily="34" charset="0"/>
              </a:rPr>
              <a:t>every </a:t>
            </a:r>
            <a:r>
              <a:rPr lang="en-US" sz="1200" dirty="0">
                <a:solidFill>
                  <a:schemeClr val="bg2"/>
                </a:solidFill>
                <a:latin typeface="Arial" pitchFamily="34" charset="0"/>
                <a:cs typeface="Arial" pitchFamily="34" charset="0"/>
              </a:rPr>
              <a:t>single year from 2011 to 2014, more than 70% overall growth. </a:t>
            </a:r>
            <a:endParaRPr lang="en-US" sz="1200" dirty="0" smtClean="0">
              <a:solidFill>
                <a:schemeClr val="bg2"/>
              </a:solidFill>
              <a:latin typeface="Arial" pitchFamily="34" charset="0"/>
              <a:cs typeface="Arial" pitchFamily="34" charset="0"/>
            </a:endParaRPr>
          </a:p>
          <a:p>
            <a:pPr marL="177800" indent="-177800">
              <a:lnSpc>
                <a:spcPct val="115000"/>
              </a:lnSpc>
              <a:spcAft>
                <a:spcPts val="1000"/>
              </a:spcAft>
              <a:buSzPct val="100000"/>
              <a:buChar char="•"/>
            </a:pPr>
            <a:r>
              <a:rPr lang="en-US" sz="1200" dirty="0" smtClean="0">
                <a:solidFill>
                  <a:schemeClr val="bg2"/>
                </a:solidFill>
                <a:latin typeface="Arial" pitchFamily="34" charset="0"/>
                <a:cs typeface="Arial" pitchFamily="34" charset="0"/>
              </a:rPr>
              <a:t>Every </a:t>
            </a:r>
            <a:r>
              <a:rPr lang="en-US" sz="1200" dirty="0">
                <a:solidFill>
                  <a:schemeClr val="bg2"/>
                </a:solidFill>
                <a:latin typeface="Arial" pitchFamily="34" charset="0"/>
                <a:cs typeface="Arial" pitchFamily="34" charset="0"/>
              </a:rPr>
              <a:t>year follows the same pattern: a small spring bump, a summer slowdown, then a strong November–December finish. </a:t>
            </a:r>
            <a:endParaRPr lang="en-US" sz="1200" dirty="0" smtClean="0">
              <a:solidFill>
                <a:schemeClr val="bg2"/>
              </a:solidFill>
              <a:latin typeface="Arial" pitchFamily="34" charset="0"/>
              <a:cs typeface="Arial" pitchFamily="34" charset="0"/>
            </a:endParaRPr>
          </a:p>
          <a:p>
            <a:pPr marL="177800" indent="-177800" algn="just">
              <a:spcAft>
                <a:spcPts val="1000"/>
              </a:spcAft>
              <a:buSzPct val="100000"/>
              <a:buChar char="•"/>
            </a:pPr>
            <a:r>
              <a:rPr lang="en-US" sz="1200" dirty="0" smtClean="0">
                <a:solidFill>
                  <a:schemeClr val="bg2"/>
                </a:solidFill>
                <a:latin typeface="Arial" pitchFamily="34" charset="0"/>
                <a:cs typeface="Arial" pitchFamily="34" charset="0"/>
              </a:rPr>
              <a:t>This </a:t>
            </a:r>
            <a:r>
              <a:rPr lang="en-US" sz="1200" dirty="0">
                <a:solidFill>
                  <a:schemeClr val="bg2"/>
                </a:solidFill>
                <a:latin typeface="Arial" pitchFamily="34" charset="0"/>
                <a:cs typeface="Arial" pitchFamily="34" charset="0"/>
              </a:rPr>
              <a:t>repeating seasonal pattern means inventory, staffing, and promotions can be planned in advance rather than reactively.</a:t>
            </a:r>
            <a:endParaRPr lang="en-US" sz="1200" dirty="0">
              <a:solidFill>
                <a:schemeClr val="bg2"/>
              </a:solidFill>
              <a:latin typeface="Arial" pitchFamily="34" charset="0"/>
              <a:cs typeface="Arial" pitchFamily="34" charset="0"/>
            </a:endParaRPr>
          </a:p>
        </p:txBody>
      </p:sp>
      <p:sp>
        <p:nvSpPr>
          <p:cNvPr id="14" name="Shape 23"/>
          <p:cNvSpPr/>
          <p:nvPr/>
        </p:nvSpPr>
        <p:spPr>
          <a:xfrm>
            <a:off x="8286896" y="2810885"/>
            <a:ext cx="3300147" cy="3356810"/>
          </a:xfrm>
          <a:prstGeom prst="roundRect">
            <a:avLst>
              <a:gd name="adj" fmla="val 3077"/>
            </a:avLst>
          </a:prstGeom>
          <a:solidFill>
            <a:srgbClr val="1B2A4A"/>
          </a:solidFill>
          <a:ln/>
        </p:spPr>
      </p:sp>
      <p:sp>
        <p:nvSpPr>
          <p:cNvPr id="15" name="Text 24"/>
          <p:cNvSpPr/>
          <p:nvPr/>
        </p:nvSpPr>
        <p:spPr>
          <a:xfrm>
            <a:off x="8365670" y="2810885"/>
            <a:ext cx="3110050" cy="535860"/>
          </a:xfrm>
          <a:prstGeom prst="rect">
            <a:avLst/>
          </a:prstGeom>
          <a:noFill/>
          <a:ln/>
        </p:spPr>
        <p:txBody>
          <a:bodyPr wrap="square" rtlCol="0" anchor="ctr"/>
          <a:lstStyle/>
          <a:p>
            <a:pPr marL="0" indent="0" algn="ctr">
              <a:buNone/>
            </a:pPr>
            <a:r>
              <a:rPr lang="en-US" sz="1400" b="1" dirty="0">
                <a:solidFill>
                  <a:srgbClr val="FF6B35"/>
                </a:solidFill>
                <a:latin typeface="Arial" pitchFamily="34" charset="0"/>
                <a:ea typeface="Arial" pitchFamily="34" charset="-122"/>
                <a:cs typeface="Arial" pitchFamily="34" charset="-120"/>
              </a:rPr>
              <a:t>What this tells us</a:t>
            </a:r>
            <a:endParaRPr lang="en-US" sz="1400" dirty="0"/>
          </a:p>
        </p:txBody>
      </p:sp>
      <p:sp>
        <p:nvSpPr>
          <p:cNvPr id="16" name="Text 25"/>
          <p:cNvSpPr/>
          <p:nvPr/>
        </p:nvSpPr>
        <p:spPr>
          <a:xfrm>
            <a:off x="8310554" y="3246219"/>
            <a:ext cx="3220282" cy="3376012"/>
          </a:xfrm>
          <a:prstGeom prst="rect">
            <a:avLst/>
          </a:prstGeom>
          <a:noFill/>
          <a:ln/>
        </p:spPr>
        <p:txBody>
          <a:bodyPr wrap="square" rtlCol="0" anchor="t"/>
          <a:lstStyle/>
          <a:p>
            <a:pPr marL="177800" indent="-177800" algn="just">
              <a:spcAft>
                <a:spcPts val="1000"/>
              </a:spcAft>
              <a:buSzPct val="100000"/>
              <a:buChar char="•"/>
            </a:pPr>
            <a:r>
              <a:rPr lang="en-US" sz="1200" dirty="0">
                <a:solidFill>
                  <a:schemeClr val="bg2"/>
                </a:solidFill>
                <a:latin typeface="Arial" pitchFamily="34" charset="0"/>
                <a:cs typeface="Arial" pitchFamily="34" charset="0"/>
              </a:rPr>
              <a:t>California is the biggest market by far, bringing in nearly two-thirds of all sales. </a:t>
            </a:r>
            <a:endParaRPr lang="en-US" sz="1200" dirty="0" smtClean="0">
              <a:solidFill>
                <a:schemeClr val="bg2"/>
              </a:solidFill>
              <a:latin typeface="Arial" pitchFamily="34" charset="0"/>
              <a:cs typeface="Arial" pitchFamily="34" charset="0"/>
            </a:endParaRPr>
          </a:p>
          <a:p>
            <a:pPr marL="177800" indent="-177800" algn="just">
              <a:spcAft>
                <a:spcPts val="1000"/>
              </a:spcAft>
              <a:buSzPct val="100000"/>
              <a:buChar char="•"/>
            </a:pPr>
            <a:r>
              <a:rPr lang="en-US" sz="1200" dirty="0" smtClean="0">
                <a:solidFill>
                  <a:schemeClr val="bg2"/>
                </a:solidFill>
                <a:latin typeface="Arial" pitchFamily="34" charset="0"/>
                <a:cs typeface="Arial" pitchFamily="34" charset="0"/>
              </a:rPr>
              <a:t>Washington </a:t>
            </a:r>
            <a:r>
              <a:rPr lang="en-US" sz="1200" dirty="0">
                <a:solidFill>
                  <a:schemeClr val="bg2"/>
                </a:solidFill>
                <a:latin typeface="Arial" pitchFamily="34" charset="0"/>
                <a:cs typeface="Arial" pitchFamily="34" charset="0"/>
              </a:rPr>
              <a:t>comes in second, but every other state contributes only a small slice individually. </a:t>
            </a:r>
            <a:endParaRPr lang="en-US" sz="1200" dirty="0" smtClean="0">
              <a:solidFill>
                <a:schemeClr val="bg2"/>
              </a:solidFill>
              <a:latin typeface="Arial" pitchFamily="34" charset="0"/>
              <a:cs typeface="Arial" pitchFamily="34" charset="0"/>
            </a:endParaRPr>
          </a:p>
          <a:p>
            <a:pPr marL="177800" indent="-177800" algn="just">
              <a:spcAft>
                <a:spcPts val="1000"/>
              </a:spcAft>
              <a:buSzPct val="100000"/>
              <a:buChar char="•"/>
            </a:pPr>
            <a:r>
              <a:rPr lang="en-US" sz="1200" dirty="0">
                <a:solidFill>
                  <a:schemeClr val="bg2"/>
                </a:solidFill>
                <a:latin typeface="Arial" pitchFamily="34" charset="0"/>
                <a:cs typeface="Arial" pitchFamily="34" charset="0"/>
              </a:rPr>
              <a:t>Because almost all high-performing cities sit in just two states (California and Washington), the next phase of growth should focus on turning one or two promising cities in other states into strong hubs, rather than spreading thin across many new locations</a:t>
            </a:r>
            <a:r>
              <a:rPr lang="en-US" sz="1200" dirty="0" smtClean="0">
                <a:solidFill>
                  <a:schemeClr val="bg2"/>
                </a:solidFill>
                <a:latin typeface="Arial" pitchFamily="34" charset="0"/>
                <a:cs typeface="Arial" pitchFamily="34" charset="0"/>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4466" y="411480"/>
            <a:ext cx="4348213" cy="548640"/>
          </a:xfrm>
          <a:prstGeom prst="rect">
            <a:avLst/>
          </a:prstGeom>
          <a:noFill/>
          <a:ln/>
        </p:spPr>
        <p:txBody>
          <a:bodyPr wrap="square"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Sales Trend Over Time</a:t>
            </a:r>
            <a:endParaRPr lang="en-US" sz="2800" dirty="0"/>
          </a:p>
        </p:txBody>
      </p:sp>
      <p:sp>
        <p:nvSpPr>
          <p:cNvPr id="3" name="Text 1"/>
          <p:cNvSpPr/>
          <p:nvPr/>
        </p:nvSpPr>
        <p:spPr>
          <a:xfrm>
            <a:off x="462750" y="988107"/>
            <a:ext cx="7315200" cy="365760"/>
          </a:xfrm>
          <a:prstGeom prst="rect">
            <a:avLst/>
          </a:prstGeom>
          <a:noFill/>
          <a:ln/>
        </p:spPr>
        <p:txBody>
          <a:bodyPr wrap="square" rtlCol="0" anchor="ctr"/>
          <a:lstStyle/>
          <a:p>
            <a:pPr marL="0" indent="0">
              <a:buNone/>
            </a:pPr>
            <a:r>
              <a:rPr lang="en-US" sz="1400" dirty="0">
                <a:solidFill>
                  <a:srgbClr val="6B7A8F"/>
                </a:solidFill>
                <a:latin typeface="Arial" pitchFamily="34" charset="0"/>
                <a:ea typeface="Arial" pitchFamily="34" charset="-122"/>
                <a:cs typeface="Arial" pitchFamily="34" charset="-120"/>
              </a:rPr>
              <a:t>Monthly sales, 2011–2014</a:t>
            </a:r>
            <a:endParaRPr lang="en-US" sz="1400" dirty="0"/>
          </a:p>
        </p:txBody>
      </p:sp>
      <p:graphicFrame>
        <p:nvGraphicFramePr>
          <p:cNvPr id="4" name="Chart 0"/>
          <p:cNvGraphicFramePr/>
          <p:nvPr>
            <p:extLst>
              <p:ext uri="{D42A27DB-BD31-4B8C-83A1-F6EECF244321}">
                <p14:modId xmlns:p14="http://schemas.microsoft.com/office/powerpoint/2010/main" val="480873820"/>
              </p:ext>
            </p:extLst>
          </p:nvPr>
        </p:nvGraphicFramePr>
        <p:xfrm>
          <a:off x="354466" y="1535230"/>
          <a:ext cx="11172524" cy="487760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822960" y="5852160"/>
            <a:ext cx="10515600" cy="685800"/>
          </a:xfrm>
          <a:prstGeom prst="rect">
            <a:avLst/>
          </a:prstGeom>
          <a:noFill/>
          <a:ln/>
        </p:spPr>
        <p:txBody>
          <a:bodyPr wrap="square" rtlCol="0" anchor="ctr"/>
          <a:lstStyle/>
          <a:p>
            <a:pPr marL="0" indent="0">
              <a:buNone/>
            </a:pPr>
            <a:endParaRPr lang="en-US" sz="1200" dirty="0"/>
          </a:p>
        </p:txBody>
      </p:sp>
      <p:sp>
        <p:nvSpPr>
          <p:cNvPr id="9" name="Text 25"/>
          <p:cNvSpPr/>
          <p:nvPr/>
        </p:nvSpPr>
        <p:spPr>
          <a:xfrm>
            <a:off x="6176083" y="576072"/>
            <a:ext cx="4498333" cy="1613564"/>
          </a:xfrm>
          <a:prstGeom prst="rect">
            <a:avLst/>
          </a:prstGeom>
          <a:noFill/>
          <a:ln/>
        </p:spPr>
        <p:txBody>
          <a:bodyPr wrap="square" rtlCol="0" anchor="ctr"/>
          <a:lstStyle/>
          <a:p>
            <a:pPr marL="177800" indent="-177800">
              <a:lnSpc>
                <a:spcPct val="115000"/>
              </a:lnSpc>
              <a:spcAft>
                <a:spcPts val="1000"/>
              </a:spcAft>
              <a:buSzPct val="100000"/>
              <a:buChar char="•"/>
            </a:pPr>
            <a:endParaRPr lang="en-US" sz="1200" dirty="0"/>
          </a:p>
        </p:txBody>
      </p:sp>
      <p:sp>
        <p:nvSpPr>
          <p:cNvPr id="10" name="Shape 23"/>
          <p:cNvSpPr/>
          <p:nvPr/>
        </p:nvSpPr>
        <p:spPr>
          <a:xfrm>
            <a:off x="5922874" y="411479"/>
            <a:ext cx="4751542" cy="2488132"/>
          </a:xfrm>
          <a:prstGeom prst="roundRect">
            <a:avLst>
              <a:gd name="adj" fmla="val 3077"/>
            </a:avLst>
          </a:prstGeom>
          <a:solidFill>
            <a:srgbClr val="1B2A4A"/>
          </a:solidFill>
          <a:ln/>
        </p:spPr>
      </p:sp>
      <p:sp>
        <p:nvSpPr>
          <p:cNvPr id="11" name="Text 24"/>
          <p:cNvSpPr/>
          <p:nvPr/>
        </p:nvSpPr>
        <p:spPr>
          <a:xfrm>
            <a:off x="6217209" y="432989"/>
            <a:ext cx="4209146" cy="397190"/>
          </a:xfrm>
          <a:prstGeom prst="rect">
            <a:avLst/>
          </a:prstGeom>
          <a:noFill/>
          <a:ln/>
        </p:spPr>
        <p:txBody>
          <a:bodyPr wrap="square" rtlCol="0" anchor="ctr"/>
          <a:lstStyle/>
          <a:p>
            <a:pPr marL="0" indent="0">
              <a:buNone/>
            </a:pPr>
            <a:r>
              <a:rPr lang="en-US" sz="1400" b="1" dirty="0">
                <a:solidFill>
                  <a:srgbClr val="FF6B35"/>
                </a:solidFill>
                <a:latin typeface="Arial" pitchFamily="34" charset="0"/>
                <a:ea typeface="Arial" pitchFamily="34" charset="-122"/>
                <a:cs typeface="Arial" pitchFamily="34" charset="-120"/>
              </a:rPr>
              <a:t>What this tells us</a:t>
            </a:r>
            <a:endParaRPr lang="en-US" sz="1400" dirty="0"/>
          </a:p>
        </p:txBody>
      </p:sp>
      <p:sp>
        <p:nvSpPr>
          <p:cNvPr id="12" name="Text 25"/>
          <p:cNvSpPr/>
          <p:nvPr/>
        </p:nvSpPr>
        <p:spPr>
          <a:xfrm>
            <a:off x="6080760" y="743455"/>
            <a:ext cx="4345595" cy="1903492"/>
          </a:xfrm>
          <a:prstGeom prst="rect">
            <a:avLst/>
          </a:prstGeom>
          <a:noFill/>
          <a:ln/>
        </p:spPr>
        <p:txBody>
          <a:bodyPr wrap="square" rtlCol="0" anchor="t"/>
          <a:lstStyle/>
          <a:p>
            <a:pPr marL="177800" indent="-177800">
              <a:lnSpc>
                <a:spcPct val="115000"/>
              </a:lnSpc>
              <a:spcAft>
                <a:spcPts val="1000"/>
              </a:spcAft>
              <a:buSzPct val="100000"/>
              <a:buChar char="•"/>
            </a:pPr>
            <a:r>
              <a:rPr lang="en-US" sz="1200" dirty="0">
                <a:solidFill>
                  <a:schemeClr val="bg2"/>
                </a:solidFill>
                <a:latin typeface="Arial" pitchFamily="34" charset="0"/>
                <a:cs typeface="Arial" pitchFamily="34" charset="0"/>
              </a:rPr>
              <a:t>Sales grew every single year from 2011 to 2014, more than 70% overall growth. </a:t>
            </a:r>
            <a:endParaRPr lang="en-US" sz="1200" dirty="0" smtClean="0">
              <a:solidFill>
                <a:schemeClr val="bg2"/>
              </a:solidFill>
              <a:latin typeface="Arial" pitchFamily="34" charset="0"/>
              <a:cs typeface="Arial" pitchFamily="34" charset="0"/>
            </a:endParaRPr>
          </a:p>
          <a:p>
            <a:pPr marL="177800" indent="-177800">
              <a:lnSpc>
                <a:spcPct val="115000"/>
              </a:lnSpc>
              <a:spcAft>
                <a:spcPts val="1000"/>
              </a:spcAft>
              <a:buSzPct val="100000"/>
              <a:buChar char="•"/>
            </a:pPr>
            <a:r>
              <a:rPr lang="en-US" sz="1200" dirty="0" smtClean="0">
                <a:solidFill>
                  <a:schemeClr val="bg2"/>
                </a:solidFill>
                <a:latin typeface="Arial" pitchFamily="34" charset="0"/>
                <a:cs typeface="Arial" pitchFamily="34" charset="0"/>
              </a:rPr>
              <a:t>Every </a:t>
            </a:r>
            <a:r>
              <a:rPr lang="en-US" sz="1200" dirty="0">
                <a:solidFill>
                  <a:schemeClr val="bg2"/>
                </a:solidFill>
                <a:latin typeface="Arial" pitchFamily="34" charset="0"/>
                <a:cs typeface="Arial" pitchFamily="34" charset="0"/>
              </a:rPr>
              <a:t>year follows the same pattern: a small spring bump, a summer slowdown, then a strong November–December finish. </a:t>
            </a:r>
            <a:endParaRPr lang="en-US" sz="1200" dirty="0" smtClean="0">
              <a:solidFill>
                <a:schemeClr val="bg2"/>
              </a:solidFill>
              <a:latin typeface="Arial" pitchFamily="34" charset="0"/>
              <a:cs typeface="Arial" pitchFamily="34" charset="0"/>
            </a:endParaRPr>
          </a:p>
          <a:p>
            <a:pPr marL="177800" indent="-177800" algn="just">
              <a:spcAft>
                <a:spcPts val="1000"/>
              </a:spcAft>
              <a:buSzPct val="100000"/>
              <a:buChar char="•"/>
            </a:pPr>
            <a:r>
              <a:rPr lang="en-US" sz="1200" dirty="0" smtClean="0">
                <a:solidFill>
                  <a:schemeClr val="bg2"/>
                </a:solidFill>
                <a:latin typeface="Arial" pitchFamily="34" charset="0"/>
                <a:cs typeface="Arial" pitchFamily="34" charset="0"/>
              </a:rPr>
              <a:t>This </a:t>
            </a:r>
            <a:r>
              <a:rPr lang="en-US" sz="1200" dirty="0">
                <a:solidFill>
                  <a:schemeClr val="bg2"/>
                </a:solidFill>
                <a:latin typeface="Arial" pitchFamily="34" charset="0"/>
                <a:cs typeface="Arial" pitchFamily="34" charset="0"/>
              </a:rPr>
              <a:t>repeating seasonal pattern means inventory, staffing, and promotions can be planned in advance rather than reactively.</a:t>
            </a:r>
            <a:endParaRPr lang="en-US" sz="1200" dirty="0">
              <a:solidFill>
                <a:schemeClr val="bg2"/>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Top 10 </a:t>
            </a:r>
            <a:r>
              <a:rPr lang="en-US" sz="2800" b="1" dirty="0" smtClean="0">
                <a:solidFill>
                  <a:srgbClr val="1B2A4A"/>
                </a:solidFill>
                <a:latin typeface="Cambria" pitchFamily="34" charset="0"/>
                <a:ea typeface="Cambria" pitchFamily="34" charset="-122"/>
                <a:cs typeface="Cambria" pitchFamily="34" charset="-120"/>
              </a:rPr>
              <a:t>Products</a:t>
            </a:r>
            <a:endParaRPr lang="en-US" sz="2800" dirty="0"/>
          </a:p>
        </p:txBody>
      </p:sp>
      <p:sp>
        <p:nvSpPr>
          <p:cNvPr id="3" name="Text 1"/>
          <p:cNvSpPr/>
          <p:nvPr/>
        </p:nvSpPr>
        <p:spPr>
          <a:xfrm>
            <a:off x="548640" y="960120"/>
            <a:ext cx="8229600" cy="365760"/>
          </a:xfrm>
          <a:prstGeom prst="rect">
            <a:avLst/>
          </a:prstGeom>
          <a:noFill/>
          <a:ln/>
        </p:spPr>
        <p:txBody>
          <a:bodyPr wrap="square" rtlCol="0" anchor="ctr"/>
          <a:lstStyle/>
          <a:p>
            <a:pPr marL="0" indent="0">
              <a:buNone/>
            </a:pPr>
            <a:r>
              <a:rPr lang="en-US" sz="1400" dirty="0">
                <a:solidFill>
                  <a:srgbClr val="6B7A8F"/>
                </a:solidFill>
                <a:latin typeface="Arial" pitchFamily="34" charset="0"/>
                <a:ea typeface="Arial" pitchFamily="34" charset="-122"/>
                <a:cs typeface="Arial" pitchFamily="34" charset="-120"/>
              </a:rPr>
              <a:t>Best-selling individual SKUs across the catalog</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828032"/>
        </p:xfrm>
        <a:graphic>
          <a:graphicData uri="http://schemas.openxmlformats.org/drawingml/2006/table">
            <a:tbl>
              <a:tblPr/>
              <a:tblGrid>
                <a:gridCol w="731520"/>
                <a:gridCol w="8503920"/>
                <a:gridCol w="1828800"/>
              </a:tblGrid>
              <a:tr h="438912">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Product</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Total Sales</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1</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Canon imageCLASS 2200 Advanced Copier</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$14,000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High Speed Automatic Electric Letter Opener</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$13,100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3</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Global Troy Executive Leather Low-Back Tilter</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$10,020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Fellowes PB500 Electric Punch Plastic Comb Binding Machine with Manual Bind</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$8,134</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GuestStacker Chair with Chrome Finish Legs</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$8,030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6</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Okidata MB760 Printer</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$7,834</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7</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Bretford Rectangular Conference Table Tops</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$7,711</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8</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Logitech P710e Mobile Speakerphone</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$7,467</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9</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Canon PC1060 Personal Laser Copier</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$6,720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marL="0" indent="0" algn="ctr">
                        <a:buNone/>
                      </a:pPr>
                      <a:r>
                        <a:rPr lang="en-US" sz="1250" dirty="0">
                          <a:solidFill>
                            <a:srgbClr val="6B7A8F"/>
                          </a:solidFill>
                          <a:latin typeface="Arial" pitchFamily="34" charset="0"/>
                          <a:ea typeface="Arial" pitchFamily="34" charset="-122"/>
                          <a:cs typeface="Arial" pitchFamily="34" charset="-120"/>
                        </a:rPr>
                        <a:t>10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buNone/>
                      </a:pPr>
                      <a:r>
                        <a:rPr lang="en-US" sz="1250" dirty="0">
                          <a:solidFill>
                            <a:srgbClr val="1B2A4A"/>
                          </a:solidFill>
                          <a:latin typeface="Arial" pitchFamily="34" charset="0"/>
                          <a:ea typeface="Arial" pitchFamily="34" charset="-122"/>
                          <a:cs typeface="Arial" pitchFamily="34" charset="-120"/>
                        </a:rPr>
                        <a:t>Hewlett Packard LaserJet 3310 Copier</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c>
                  <a:txBody>
                    <a:bodyPr/>
                    <a:lstStyle/>
                    <a:p>
                      <a:pPr marL="0" indent="0" algn="r">
                        <a:buNone/>
                      </a:pPr>
                      <a:r>
                        <a:rPr lang="en-US" sz="1250" b="1" dirty="0">
                          <a:solidFill>
                            <a:srgbClr val="1B2A4A"/>
                          </a:solidFill>
                          <a:latin typeface="Arial" pitchFamily="34" charset="0"/>
                          <a:ea typeface="Arial" pitchFamily="34" charset="-122"/>
                          <a:cs typeface="Arial" pitchFamily="34" charset="-120"/>
                        </a:rPr>
                        <a:t>$6,240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DF1F6"/>
                    </a:solid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Key Insights &amp; Recommendations</a:t>
            </a:r>
            <a:endParaRPr lang="en-US" sz="2800" dirty="0"/>
          </a:p>
        </p:txBody>
      </p:sp>
      <p:sp>
        <p:nvSpPr>
          <p:cNvPr id="3" name="Shape 1"/>
          <p:cNvSpPr/>
          <p:nvPr/>
        </p:nvSpPr>
        <p:spPr>
          <a:xfrm>
            <a:off x="548640" y="1371600"/>
            <a:ext cx="5394960" cy="2331720"/>
          </a:xfrm>
          <a:prstGeom prst="roundRect">
            <a:avLst>
              <a:gd name="adj" fmla="val 3137"/>
            </a:avLst>
          </a:prstGeom>
          <a:solidFill>
            <a:srgbClr val="F5F7FA"/>
          </a:solidFill>
          <a:ln w="12700">
            <a:solidFill>
              <a:srgbClr val="E2E8F0"/>
            </a:solidFill>
            <a:prstDash val="solid"/>
          </a:ln>
        </p:spPr>
      </p:sp>
      <p:sp>
        <p:nvSpPr>
          <p:cNvPr id="4" name="Shape 2"/>
          <p:cNvSpPr/>
          <p:nvPr/>
        </p:nvSpPr>
        <p:spPr>
          <a:xfrm>
            <a:off x="822960" y="1645920"/>
            <a:ext cx="594360" cy="594360"/>
          </a:xfrm>
          <a:prstGeom prst="ellipse">
            <a:avLst/>
          </a:prstGeom>
          <a:solidFill>
            <a:srgbClr val="1B2A4A"/>
          </a:solidFill>
          <a:ln/>
        </p:spPr>
      </p:sp>
      <p:sp>
        <p:nvSpPr>
          <p:cNvPr id="5" name="Text 3"/>
          <p:cNvSpPr/>
          <p:nvPr/>
        </p:nvSpPr>
        <p:spPr>
          <a:xfrm>
            <a:off x="822960" y="1645920"/>
            <a:ext cx="594360" cy="594360"/>
          </a:xfrm>
          <a:prstGeom prst="rect">
            <a:avLst/>
          </a:prstGeom>
          <a:noFill/>
          <a:ln/>
        </p:spPr>
        <p:txBody>
          <a:bodyPr wrap="square" rtlCol="0" anchor="ctr"/>
          <a:lstStyle/>
          <a:p>
            <a:pPr marL="0" indent="0" algn="ctr">
              <a:buNone/>
            </a:pPr>
            <a:r>
              <a:rPr lang="en-US" sz="1600" b="1" dirty="0">
                <a:solidFill>
                  <a:srgbClr val="FF6B35"/>
                </a:solidFill>
                <a:latin typeface="Arial" pitchFamily="34" charset="0"/>
                <a:ea typeface="Arial" pitchFamily="34" charset="-122"/>
                <a:cs typeface="Arial" pitchFamily="34" charset="-120"/>
              </a:rPr>
              <a:t>01</a:t>
            </a:r>
            <a:endParaRPr lang="en-US" sz="1600" dirty="0"/>
          </a:p>
        </p:txBody>
      </p:sp>
      <p:sp>
        <p:nvSpPr>
          <p:cNvPr id="6" name="Text 4"/>
          <p:cNvSpPr/>
          <p:nvPr/>
        </p:nvSpPr>
        <p:spPr>
          <a:xfrm>
            <a:off x="1600200" y="1664208"/>
            <a:ext cx="4114800" cy="548640"/>
          </a:xfrm>
          <a:prstGeom prst="rect">
            <a:avLst/>
          </a:prstGeom>
          <a:noFill/>
          <a:ln/>
        </p:spPr>
        <p:txBody>
          <a:bodyPr wrap="square" rtlCol="0" anchor="ctr"/>
          <a:lstStyle/>
          <a:p>
            <a:pPr marL="0" indent="0">
              <a:buNone/>
            </a:pPr>
            <a:r>
              <a:rPr lang="en-US" sz="1600" b="1" dirty="0">
                <a:solidFill>
                  <a:srgbClr val="1B2A4A"/>
                </a:solidFill>
                <a:latin typeface="Arial" pitchFamily="34" charset="0"/>
                <a:ea typeface="Arial" pitchFamily="34" charset="-122"/>
                <a:cs typeface="Arial" pitchFamily="34" charset="-120"/>
              </a:rPr>
              <a:t>Protect the Q4 surge</a:t>
            </a:r>
            <a:endParaRPr lang="en-US" sz="1600" dirty="0"/>
          </a:p>
        </p:txBody>
      </p:sp>
      <p:sp>
        <p:nvSpPr>
          <p:cNvPr id="7" name="Text 5"/>
          <p:cNvSpPr/>
          <p:nvPr/>
        </p:nvSpPr>
        <p:spPr>
          <a:xfrm>
            <a:off x="673769" y="2423160"/>
            <a:ext cx="5269832" cy="1051560"/>
          </a:xfrm>
          <a:prstGeom prst="rect">
            <a:avLst/>
          </a:prstGeom>
          <a:noFill/>
          <a:ln/>
        </p:spPr>
        <p:txBody>
          <a:bodyPr wrap="square" rtlCol="0" anchor="ctr"/>
          <a:lstStyle/>
          <a:p>
            <a:pPr marL="171450" indent="-171450">
              <a:buFont typeface="Arial" pitchFamily="34" charset="0"/>
              <a:buChar char="•"/>
            </a:pPr>
            <a:r>
              <a:rPr lang="en-US" sz="1400" dirty="0">
                <a:latin typeface="Arial" pitchFamily="34" charset="0"/>
                <a:cs typeface="Arial" pitchFamily="34" charset="0"/>
              </a:rPr>
              <a:t>Sales consistently peak in November and December every year without exception. </a:t>
            </a:r>
            <a:endParaRPr lang="en-US" sz="1400" dirty="0" smtClean="0">
              <a:latin typeface="Arial" pitchFamily="34" charset="0"/>
              <a:cs typeface="Arial" pitchFamily="34" charset="0"/>
            </a:endParaRPr>
          </a:p>
          <a:p>
            <a:pPr marL="171450" indent="-171450">
              <a:buFont typeface="Arial" pitchFamily="34" charset="0"/>
              <a:buChar char="•"/>
            </a:pPr>
            <a:r>
              <a:rPr lang="en-US" sz="1400" dirty="0" smtClean="0">
                <a:latin typeface="Arial" pitchFamily="34" charset="0"/>
                <a:cs typeface="Arial" pitchFamily="34" charset="0"/>
              </a:rPr>
              <a:t>Stocking </a:t>
            </a:r>
            <a:r>
              <a:rPr lang="en-US" sz="1400" dirty="0">
                <a:latin typeface="Arial" pitchFamily="34" charset="0"/>
                <a:cs typeface="Arial" pitchFamily="34" charset="0"/>
              </a:rPr>
              <a:t>up and staffing ahead of this window avoids missed sales and </a:t>
            </a:r>
            <a:r>
              <a:rPr lang="en-US" sz="1400" dirty="0" err="1">
                <a:latin typeface="Arial" pitchFamily="34" charset="0"/>
                <a:cs typeface="Arial" pitchFamily="34" charset="0"/>
              </a:rPr>
              <a:t>stockouts</a:t>
            </a:r>
            <a:r>
              <a:rPr lang="en-US" sz="1400" dirty="0" smtClean="0">
                <a:latin typeface="Arial" pitchFamily="34" charset="0"/>
                <a:cs typeface="Arial" pitchFamily="34" charset="0"/>
              </a:rPr>
              <a:t>.</a:t>
            </a:r>
          </a:p>
          <a:p>
            <a:pPr marL="171450" indent="-171450">
              <a:buFont typeface="Arial" pitchFamily="34" charset="0"/>
              <a:buChar char="•"/>
            </a:pPr>
            <a:r>
              <a:rPr lang="en-US" sz="1400" dirty="0" smtClean="0">
                <a:latin typeface="Arial" pitchFamily="34" charset="0"/>
                <a:cs typeface="Arial" pitchFamily="34" charset="0"/>
              </a:rPr>
              <a:t> </a:t>
            </a:r>
            <a:r>
              <a:rPr lang="en-US" sz="1400" dirty="0">
                <a:latin typeface="Arial" pitchFamily="34" charset="0"/>
                <a:cs typeface="Arial" pitchFamily="34" charset="0"/>
              </a:rPr>
              <a:t>Promotions timed just before this peak can amplify an already strong season.</a:t>
            </a:r>
            <a:endParaRPr lang="en-US" sz="1400" dirty="0">
              <a:latin typeface="Arial" pitchFamily="34" charset="0"/>
              <a:cs typeface="Arial" pitchFamily="34" charset="0"/>
            </a:endParaRPr>
          </a:p>
        </p:txBody>
      </p:sp>
      <p:sp>
        <p:nvSpPr>
          <p:cNvPr id="8" name="Shape 6"/>
          <p:cNvSpPr/>
          <p:nvPr/>
        </p:nvSpPr>
        <p:spPr>
          <a:xfrm>
            <a:off x="6217920" y="1371600"/>
            <a:ext cx="5394960" cy="2331720"/>
          </a:xfrm>
          <a:prstGeom prst="roundRect">
            <a:avLst>
              <a:gd name="adj" fmla="val 3137"/>
            </a:avLst>
          </a:prstGeom>
          <a:solidFill>
            <a:srgbClr val="F5F7FA"/>
          </a:solidFill>
          <a:ln w="12700">
            <a:solidFill>
              <a:srgbClr val="E2E8F0"/>
            </a:solidFill>
            <a:prstDash val="solid"/>
          </a:ln>
        </p:spPr>
      </p:sp>
      <p:sp>
        <p:nvSpPr>
          <p:cNvPr id="9" name="Shape 7"/>
          <p:cNvSpPr/>
          <p:nvPr/>
        </p:nvSpPr>
        <p:spPr>
          <a:xfrm>
            <a:off x="6492240" y="1645920"/>
            <a:ext cx="594360" cy="594360"/>
          </a:xfrm>
          <a:prstGeom prst="ellipse">
            <a:avLst/>
          </a:prstGeom>
          <a:solidFill>
            <a:srgbClr val="1B2A4A"/>
          </a:solidFill>
          <a:ln/>
        </p:spPr>
      </p:sp>
      <p:sp>
        <p:nvSpPr>
          <p:cNvPr id="10" name="Text 8"/>
          <p:cNvSpPr/>
          <p:nvPr/>
        </p:nvSpPr>
        <p:spPr>
          <a:xfrm>
            <a:off x="6492240" y="1645920"/>
            <a:ext cx="594360" cy="594360"/>
          </a:xfrm>
          <a:prstGeom prst="rect">
            <a:avLst/>
          </a:prstGeom>
          <a:noFill/>
          <a:ln/>
        </p:spPr>
        <p:txBody>
          <a:bodyPr wrap="square" rtlCol="0" anchor="ctr"/>
          <a:lstStyle/>
          <a:p>
            <a:pPr marL="0" indent="0" algn="ctr">
              <a:buNone/>
            </a:pPr>
            <a:r>
              <a:rPr lang="en-US" sz="1600" b="1" dirty="0">
                <a:solidFill>
                  <a:srgbClr val="FF6B35"/>
                </a:solidFill>
                <a:latin typeface="Arial" pitchFamily="34" charset="0"/>
                <a:ea typeface="Arial" pitchFamily="34" charset="-122"/>
                <a:cs typeface="Arial" pitchFamily="34" charset="-120"/>
              </a:rPr>
              <a:t>02</a:t>
            </a:r>
            <a:endParaRPr lang="en-US" sz="1600" dirty="0"/>
          </a:p>
        </p:txBody>
      </p:sp>
      <p:sp>
        <p:nvSpPr>
          <p:cNvPr id="11" name="Text 9"/>
          <p:cNvSpPr/>
          <p:nvPr/>
        </p:nvSpPr>
        <p:spPr>
          <a:xfrm>
            <a:off x="7269480" y="1664208"/>
            <a:ext cx="4114800" cy="548640"/>
          </a:xfrm>
          <a:prstGeom prst="rect">
            <a:avLst/>
          </a:prstGeom>
          <a:noFill/>
          <a:ln/>
        </p:spPr>
        <p:txBody>
          <a:bodyPr wrap="square" rtlCol="0" anchor="ctr"/>
          <a:lstStyle/>
          <a:p>
            <a:pPr marL="0" indent="0">
              <a:buNone/>
            </a:pPr>
            <a:r>
              <a:rPr lang="en-US" sz="1600" b="1" dirty="0">
                <a:solidFill>
                  <a:srgbClr val="1B2A4A"/>
                </a:solidFill>
                <a:latin typeface="Arial" pitchFamily="34" charset="0"/>
                <a:ea typeface="Arial" pitchFamily="34" charset="-122"/>
                <a:cs typeface="Arial" pitchFamily="34" charset="-120"/>
              </a:rPr>
              <a:t>Fix two loss-making categories</a:t>
            </a:r>
            <a:endParaRPr lang="en-US" sz="1600" dirty="0"/>
          </a:p>
        </p:txBody>
      </p:sp>
      <p:sp>
        <p:nvSpPr>
          <p:cNvPr id="12" name="Text 10"/>
          <p:cNvSpPr/>
          <p:nvPr/>
        </p:nvSpPr>
        <p:spPr>
          <a:xfrm>
            <a:off x="6492240" y="2423160"/>
            <a:ext cx="4846320" cy="1051560"/>
          </a:xfrm>
          <a:prstGeom prst="rect">
            <a:avLst/>
          </a:prstGeom>
          <a:noFill/>
          <a:ln/>
        </p:spPr>
        <p:txBody>
          <a:bodyPr wrap="square" rtlCol="0" anchor="ctr"/>
          <a:lstStyle/>
          <a:p>
            <a:pPr marL="171450" indent="-171450">
              <a:buFont typeface="Arial" pitchFamily="34" charset="0"/>
              <a:buChar char="•"/>
            </a:pPr>
            <a:r>
              <a:rPr lang="en-US" sz="1400" dirty="0">
                <a:latin typeface="Arial" pitchFamily="34" charset="0"/>
                <a:cs typeface="Arial" pitchFamily="34" charset="0"/>
              </a:rPr>
              <a:t>Bookcases and Machines both show a net loss despite reasonable sales volume</a:t>
            </a:r>
            <a:r>
              <a:rPr lang="en-US" sz="1400" dirty="0" smtClean="0">
                <a:latin typeface="Arial" pitchFamily="34" charset="0"/>
                <a:cs typeface="Arial" pitchFamily="34" charset="0"/>
              </a:rPr>
              <a:t>.</a:t>
            </a:r>
          </a:p>
          <a:p>
            <a:pPr marL="171450" indent="-171450">
              <a:buFont typeface="Arial" pitchFamily="34" charset="0"/>
              <a:buChar char="•"/>
            </a:pPr>
            <a:r>
              <a:rPr lang="en-US" sz="1400" dirty="0" smtClean="0">
                <a:latin typeface="Arial" pitchFamily="34" charset="0"/>
                <a:cs typeface="Arial" pitchFamily="34" charset="0"/>
              </a:rPr>
              <a:t> </a:t>
            </a:r>
            <a:r>
              <a:rPr lang="en-US" sz="1400" dirty="0">
                <a:latin typeface="Arial" pitchFamily="34" charset="0"/>
                <a:cs typeface="Arial" pitchFamily="34" charset="0"/>
              </a:rPr>
              <a:t>High product costs paired with heavy discounting are the likely cause. </a:t>
            </a:r>
            <a:endParaRPr lang="en-US" sz="1400" dirty="0" smtClean="0">
              <a:latin typeface="Arial" pitchFamily="34" charset="0"/>
              <a:cs typeface="Arial" pitchFamily="34" charset="0"/>
            </a:endParaRPr>
          </a:p>
          <a:p>
            <a:pPr marL="171450" indent="-171450">
              <a:buFont typeface="Arial" pitchFamily="34" charset="0"/>
              <a:buChar char="•"/>
            </a:pPr>
            <a:r>
              <a:rPr lang="en-US" sz="1400" dirty="0" smtClean="0">
                <a:latin typeface="Arial" pitchFamily="34" charset="0"/>
                <a:cs typeface="Arial" pitchFamily="34" charset="0"/>
              </a:rPr>
              <a:t>A </a:t>
            </a:r>
            <a:r>
              <a:rPr lang="en-US" sz="1400" dirty="0">
                <a:latin typeface="Arial" pitchFamily="34" charset="0"/>
                <a:cs typeface="Arial" pitchFamily="34" charset="0"/>
              </a:rPr>
              <a:t>pricing and discount-cap review could turn these back into profitable lines.</a:t>
            </a:r>
            <a:endParaRPr lang="en-US" sz="1400" dirty="0">
              <a:latin typeface="Arial" pitchFamily="34" charset="0"/>
              <a:cs typeface="Arial" pitchFamily="34" charset="0"/>
            </a:endParaRPr>
          </a:p>
        </p:txBody>
      </p:sp>
      <p:sp>
        <p:nvSpPr>
          <p:cNvPr id="13" name="Shape 11"/>
          <p:cNvSpPr/>
          <p:nvPr/>
        </p:nvSpPr>
        <p:spPr>
          <a:xfrm>
            <a:off x="548640" y="3931919"/>
            <a:ext cx="5394960" cy="2504975"/>
          </a:xfrm>
          <a:prstGeom prst="roundRect">
            <a:avLst>
              <a:gd name="adj" fmla="val 3137"/>
            </a:avLst>
          </a:prstGeom>
          <a:solidFill>
            <a:srgbClr val="F5F7FA"/>
          </a:solidFill>
          <a:ln w="12700">
            <a:solidFill>
              <a:srgbClr val="E2E8F0"/>
            </a:solidFill>
            <a:prstDash val="solid"/>
          </a:ln>
        </p:spPr>
      </p:sp>
      <p:sp>
        <p:nvSpPr>
          <p:cNvPr id="14" name="Shape 12"/>
          <p:cNvSpPr/>
          <p:nvPr/>
        </p:nvSpPr>
        <p:spPr>
          <a:xfrm>
            <a:off x="822960" y="4206240"/>
            <a:ext cx="594360" cy="594360"/>
          </a:xfrm>
          <a:prstGeom prst="ellipse">
            <a:avLst/>
          </a:prstGeom>
          <a:solidFill>
            <a:srgbClr val="1B2A4A"/>
          </a:solidFill>
          <a:ln/>
        </p:spPr>
      </p:sp>
      <p:sp>
        <p:nvSpPr>
          <p:cNvPr id="15" name="Text 13"/>
          <p:cNvSpPr/>
          <p:nvPr/>
        </p:nvSpPr>
        <p:spPr>
          <a:xfrm>
            <a:off x="822960" y="4206240"/>
            <a:ext cx="594360" cy="594360"/>
          </a:xfrm>
          <a:prstGeom prst="rect">
            <a:avLst/>
          </a:prstGeom>
          <a:noFill/>
          <a:ln/>
        </p:spPr>
        <p:txBody>
          <a:bodyPr wrap="square" rtlCol="0" anchor="ctr"/>
          <a:lstStyle/>
          <a:p>
            <a:pPr marL="0" indent="0" algn="ctr">
              <a:buNone/>
            </a:pPr>
            <a:r>
              <a:rPr lang="en-US" sz="1600" b="1" dirty="0">
                <a:solidFill>
                  <a:srgbClr val="FF6B35"/>
                </a:solidFill>
                <a:latin typeface="Arial" pitchFamily="34" charset="0"/>
                <a:ea typeface="Arial" pitchFamily="34" charset="-122"/>
                <a:cs typeface="Arial" pitchFamily="34" charset="-120"/>
              </a:rPr>
              <a:t>03</a:t>
            </a:r>
            <a:endParaRPr lang="en-US" sz="1600" dirty="0"/>
          </a:p>
        </p:txBody>
      </p:sp>
      <p:sp>
        <p:nvSpPr>
          <p:cNvPr id="16" name="Text 14"/>
          <p:cNvSpPr/>
          <p:nvPr/>
        </p:nvSpPr>
        <p:spPr>
          <a:xfrm>
            <a:off x="1600200" y="4224528"/>
            <a:ext cx="4114800" cy="548640"/>
          </a:xfrm>
          <a:prstGeom prst="rect">
            <a:avLst/>
          </a:prstGeom>
          <a:noFill/>
          <a:ln/>
        </p:spPr>
        <p:txBody>
          <a:bodyPr wrap="square" rtlCol="0" anchor="ctr"/>
          <a:lstStyle/>
          <a:p>
            <a:pPr marL="0" indent="0">
              <a:buNone/>
            </a:pPr>
            <a:r>
              <a:rPr lang="en-US" sz="1600" b="1" dirty="0">
                <a:solidFill>
                  <a:srgbClr val="1B2A4A"/>
                </a:solidFill>
                <a:latin typeface="Arial" pitchFamily="34" charset="0"/>
                <a:ea typeface="Arial" pitchFamily="34" charset="-122"/>
                <a:cs typeface="Arial" pitchFamily="34" charset="-120"/>
              </a:rPr>
              <a:t>Reduce California concentration risk</a:t>
            </a:r>
            <a:endParaRPr lang="en-US" sz="1600" dirty="0"/>
          </a:p>
        </p:txBody>
      </p:sp>
      <p:sp>
        <p:nvSpPr>
          <p:cNvPr id="17" name="Text 15"/>
          <p:cNvSpPr/>
          <p:nvPr/>
        </p:nvSpPr>
        <p:spPr>
          <a:xfrm>
            <a:off x="673769" y="5067704"/>
            <a:ext cx="5173577" cy="1051560"/>
          </a:xfrm>
          <a:prstGeom prst="rect">
            <a:avLst/>
          </a:prstGeom>
          <a:noFill/>
          <a:ln/>
        </p:spPr>
        <p:txBody>
          <a:bodyPr wrap="square" rtlCol="0" anchor="ctr"/>
          <a:lstStyle/>
          <a:p>
            <a:pPr marL="171450" indent="-171450">
              <a:buFont typeface="Arial" pitchFamily="34" charset="0"/>
              <a:buChar char="•"/>
            </a:pPr>
            <a:r>
              <a:rPr lang="en-US" sz="1400" dirty="0">
                <a:latin typeface="Arial" pitchFamily="34" charset="0"/>
                <a:cs typeface="Arial" pitchFamily="34" charset="0"/>
              </a:rPr>
              <a:t>Over half of all revenue depends on a single state, which is a vulnerability. </a:t>
            </a:r>
            <a:endParaRPr lang="en-US" sz="1400" dirty="0" smtClean="0">
              <a:latin typeface="Arial" pitchFamily="34" charset="0"/>
              <a:cs typeface="Arial" pitchFamily="34" charset="0"/>
            </a:endParaRPr>
          </a:p>
          <a:p>
            <a:pPr marL="171450" indent="-171450">
              <a:buFont typeface="Arial" pitchFamily="34" charset="0"/>
              <a:buChar char="•"/>
            </a:pPr>
            <a:r>
              <a:rPr lang="en-US" sz="1400" dirty="0" smtClean="0">
                <a:latin typeface="Arial" pitchFamily="34" charset="0"/>
                <a:cs typeface="Arial" pitchFamily="34" charset="0"/>
              </a:rPr>
              <a:t>Any </a:t>
            </a:r>
            <a:r>
              <a:rPr lang="en-US" sz="1400" dirty="0">
                <a:latin typeface="Arial" pitchFamily="34" charset="0"/>
                <a:cs typeface="Arial" pitchFamily="34" charset="0"/>
              </a:rPr>
              <a:t>regional slowdown or disruption in California would hit overall performance hard</a:t>
            </a:r>
            <a:r>
              <a:rPr lang="en-US" sz="1400" dirty="0" smtClean="0">
                <a:latin typeface="Arial" pitchFamily="34" charset="0"/>
                <a:cs typeface="Arial" pitchFamily="34" charset="0"/>
              </a:rPr>
              <a:t>.</a:t>
            </a:r>
          </a:p>
          <a:p>
            <a:pPr marL="171450" indent="-171450">
              <a:buFont typeface="Arial" pitchFamily="34" charset="0"/>
              <a:buChar char="•"/>
            </a:pPr>
            <a:r>
              <a:rPr lang="en-US" sz="1400" dirty="0" smtClean="0">
                <a:latin typeface="Arial" pitchFamily="34" charset="0"/>
                <a:cs typeface="Arial" pitchFamily="34" charset="0"/>
              </a:rPr>
              <a:t>Investing </a:t>
            </a:r>
            <a:r>
              <a:rPr lang="en-US" sz="1400" dirty="0">
                <a:latin typeface="Arial" pitchFamily="34" charset="0"/>
                <a:cs typeface="Arial" pitchFamily="34" charset="0"/>
              </a:rPr>
              <a:t>in growth for Arizona, Colorado, and similar markets spreads that risk.</a:t>
            </a:r>
            <a:endParaRPr lang="en-US" sz="1400" dirty="0">
              <a:latin typeface="Arial" pitchFamily="34" charset="0"/>
              <a:cs typeface="Arial" pitchFamily="34" charset="0"/>
            </a:endParaRPr>
          </a:p>
        </p:txBody>
      </p:sp>
      <p:sp>
        <p:nvSpPr>
          <p:cNvPr id="18" name="Shape 16"/>
          <p:cNvSpPr/>
          <p:nvPr/>
        </p:nvSpPr>
        <p:spPr>
          <a:xfrm>
            <a:off x="6217920" y="3931920"/>
            <a:ext cx="5394960" cy="2504974"/>
          </a:xfrm>
          <a:prstGeom prst="roundRect">
            <a:avLst>
              <a:gd name="adj" fmla="val 3137"/>
            </a:avLst>
          </a:prstGeom>
          <a:solidFill>
            <a:srgbClr val="F5F7FA"/>
          </a:solidFill>
          <a:ln w="12700">
            <a:solidFill>
              <a:srgbClr val="E2E8F0"/>
            </a:solidFill>
            <a:prstDash val="solid"/>
          </a:ln>
        </p:spPr>
      </p:sp>
      <p:sp>
        <p:nvSpPr>
          <p:cNvPr id="19" name="Shape 17"/>
          <p:cNvSpPr/>
          <p:nvPr/>
        </p:nvSpPr>
        <p:spPr>
          <a:xfrm>
            <a:off x="6492240" y="4206240"/>
            <a:ext cx="594360" cy="594360"/>
          </a:xfrm>
          <a:prstGeom prst="ellipse">
            <a:avLst/>
          </a:prstGeom>
          <a:solidFill>
            <a:srgbClr val="1B2A4A"/>
          </a:solidFill>
          <a:ln/>
        </p:spPr>
      </p:sp>
      <p:sp>
        <p:nvSpPr>
          <p:cNvPr id="20" name="Text 18"/>
          <p:cNvSpPr/>
          <p:nvPr/>
        </p:nvSpPr>
        <p:spPr>
          <a:xfrm>
            <a:off x="6492240" y="4206240"/>
            <a:ext cx="594360" cy="594360"/>
          </a:xfrm>
          <a:prstGeom prst="rect">
            <a:avLst/>
          </a:prstGeom>
          <a:noFill/>
          <a:ln/>
        </p:spPr>
        <p:txBody>
          <a:bodyPr wrap="square" rtlCol="0" anchor="ctr"/>
          <a:lstStyle/>
          <a:p>
            <a:pPr marL="0" indent="0" algn="ctr">
              <a:buNone/>
            </a:pPr>
            <a:r>
              <a:rPr lang="en-US" sz="1600" b="1" dirty="0">
                <a:solidFill>
                  <a:srgbClr val="FF6B35"/>
                </a:solidFill>
                <a:latin typeface="Arial" pitchFamily="34" charset="0"/>
                <a:ea typeface="Arial" pitchFamily="34" charset="-122"/>
                <a:cs typeface="Arial" pitchFamily="34" charset="-120"/>
              </a:rPr>
              <a:t>04</a:t>
            </a:r>
            <a:endParaRPr lang="en-US" sz="1600" dirty="0"/>
          </a:p>
        </p:txBody>
      </p:sp>
      <p:sp>
        <p:nvSpPr>
          <p:cNvPr id="21" name="Text 19"/>
          <p:cNvSpPr/>
          <p:nvPr/>
        </p:nvSpPr>
        <p:spPr>
          <a:xfrm>
            <a:off x="7269480" y="4224528"/>
            <a:ext cx="4114800" cy="548640"/>
          </a:xfrm>
          <a:prstGeom prst="rect">
            <a:avLst/>
          </a:prstGeom>
          <a:noFill/>
          <a:ln/>
        </p:spPr>
        <p:txBody>
          <a:bodyPr wrap="square" rtlCol="0" anchor="ctr"/>
          <a:lstStyle/>
          <a:p>
            <a:pPr marL="0" indent="0">
              <a:buNone/>
            </a:pPr>
            <a:r>
              <a:rPr lang="en-US" sz="1600" b="1" dirty="0">
                <a:solidFill>
                  <a:srgbClr val="1B2A4A"/>
                </a:solidFill>
                <a:latin typeface="Arial" pitchFamily="34" charset="0"/>
                <a:ea typeface="Arial" pitchFamily="34" charset="-122"/>
                <a:cs typeface="Arial" pitchFamily="34" charset="-120"/>
              </a:rPr>
              <a:t>Double down on Copiers &amp; Accessories</a:t>
            </a:r>
            <a:endParaRPr lang="en-US" sz="1600" dirty="0"/>
          </a:p>
        </p:txBody>
      </p:sp>
      <p:sp>
        <p:nvSpPr>
          <p:cNvPr id="22" name="Text 20"/>
          <p:cNvSpPr/>
          <p:nvPr/>
        </p:nvSpPr>
        <p:spPr>
          <a:xfrm>
            <a:off x="6492239" y="5067704"/>
            <a:ext cx="4985887" cy="1051560"/>
          </a:xfrm>
          <a:prstGeom prst="rect">
            <a:avLst/>
          </a:prstGeom>
          <a:noFill/>
          <a:ln/>
        </p:spPr>
        <p:txBody>
          <a:bodyPr wrap="square" rtlCol="0" anchor="ctr"/>
          <a:lstStyle/>
          <a:p>
            <a:pPr marL="285750" indent="-285750">
              <a:lnSpc>
                <a:spcPct val="125000"/>
              </a:lnSpc>
              <a:buFont typeface="Arial" pitchFamily="34" charset="0"/>
              <a:buChar char="•"/>
            </a:pPr>
            <a:r>
              <a:rPr lang="en-US" sz="1400" dirty="0">
                <a:latin typeface="Arial" pitchFamily="34" charset="0"/>
                <a:cs typeface="Arial" pitchFamily="34" charset="0"/>
              </a:rPr>
              <a:t>These categories deliver the highest profit despite a relatively modest share of </a:t>
            </a:r>
            <a:r>
              <a:rPr lang="en-US" sz="1400" dirty="0" smtClean="0">
                <a:latin typeface="Arial" pitchFamily="34" charset="0"/>
                <a:cs typeface="Arial" pitchFamily="34" charset="0"/>
              </a:rPr>
              <a:t>sales.</a:t>
            </a:r>
          </a:p>
          <a:p>
            <a:pPr marL="285750" indent="-285750">
              <a:lnSpc>
                <a:spcPct val="125000"/>
              </a:lnSpc>
              <a:buFont typeface="Arial" pitchFamily="34" charset="0"/>
              <a:buChar char="•"/>
            </a:pPr>
            <a:r>
              <a:rPr lang="en-US" sz="1400" dirty="0" smtClean="0">
                <a:latin typeface="Arial" pitchFamily="34" charset="0"/>
                <a:cs typeface="Arial" pitchFamily="34" charset="0"/>
              </a:rPr>
              <a:t>They're </a:t>
            </a:r>
            <a:r>
              <a:rPr lang="en-US" sz="1400" dirty="0">
                <a:latin typeface="Arial" pitchFamily="34" charset="0"/>
                <a:cs typeface="Arial" pitchFamily="34" charset="0"/>
              </a:rPr>
              <a:t>the most efficient categories in the entire product </a:t>
            </a:r>
            <a:r>
              <a:rPr lang="en-US" sz="1400" dirty="0" smtClean="0">
                <a:latin typeface="Arial" pitchFamily="34" charset="0"/>
                <a:cs typeface="Arial" pitchFamily="34" charset="0"/>
              </a:rPr>
              <a:t>mix.</a:t>
            </a:r>
          </a:p>
          <a:p>
            <a:pPr marL="285750" indent="-285750">
              <a:lnSpc>
                <a:spcPct val="125000"/>
              </a:lnSpc>
              <a:buFont typeface="Arial" pitchFamily="34" charset="0"/>
              <a:buChar char="•"/>
            </a:pPr>
            <a:r>
              <a:rPr lang="en-US" sz="1400" dirty="0" smtClean="0">
                <a:latin typeface="Arial" pitchFamily="34" charset="0"/>
                <a:cs typeface="Arial" pitchFamily="34" charset="0"/>
              </a:rPr>
              <a:t>Prioritizing </a:t>
            </a:r>
            <a:r>
              <a:rPr lang="en-US" sz="1400" dirty="0">
                <a:latin typeface="Arial" pitchFamily="34" charset="0"/>
                <a:cs typeface="Arial" pitchFamily="34" charset="0"/>
              </a:rPr>
              <a:t>marketing and shelf space for these lines offers strong return for the effort.</a:t>
            </a:r>
            <a:endParaRPr lang="en-US" sz="125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751798" y="-1371600"/>
            <a:ext cx="5486400" cy="5486400"/>
          </a:xfrm>
          <a:prstGeom prst="ellipse">
            <a:avLst/>
          </a:prstGeom>
          <a:solidFill>
            <a:srgbClr val="3E5C76">
              <a:alpha val="30000"/>
            </a:srgbClr>
          </a:solidFill>
          <a:ln/>
        </p:spPr>
      </p:sp>
      <p:sp>
        <p:nvSpPr>
          <p:cNvPr id="3" name="Shape 1"/>
          <p:cNvSpPr/>
          <p:nvPr/>
        </p:nvSpPr>
        <p:spPr>
          <a:xfrm>
            <a:off x="7921592" y="3385687"/>
            <a:ext cx="4572000" cy="4572000"/>
          </a:xfrm>
          <a:prstGeom prst="ellipse">
            <a:avLst/>
          </a:prstGeom>
          <a:solidFill>
            <a:srgbClr val="FF6B35">
              <a:alpha val="15000"/>
            </a:srgbClr>
          </a:solidFill>
          <a:ln/>
        </p:spPr>
      </p:sp>
      <p:sp>
        <p:nvSpPr>
          <p:cNvPr id="4" name="Text 2"/>
          <p:cNvSpPr/>
          <p:nvPr/>
        </p:nvSpPr>
        <p:spPr>
          <a:xfrm>
            <a:off x="501717" y="4463654"/>
            <a:ext cx="9144000" cy="9144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5" name="Text 3"/>
          <p:cNvSpPr/>
          <p:nvPr/>
        </p:nvSpPr>
        <p:spPr>
          <a:xfrm>
            <a:off x="452387" y="2926179"/>
            <a:ext cx="9473661" cy="1323474"/>
          </a:xfrm>
          <a:prstGeom prst="rect">
            <a:avLst/>
          </a:prstGeom>
          <a:noFill/>
          <a:ln/>
        </p:spPr>
        <p:txBody>
          <a:bodyPr wrap="square" rtlCol="0" anchor="ctr"/>
          <a:lstStyle/>
          <a:p>
            <a:r>
              <a:rPr lang="en-US" b="1" i="1" dirty="0" smtClean="0">
                <a:solidFill>
                  <a:schemeClr val="bg2"/>
                </a:solidFill>
                <a:latin typeface="Arial" pitchFamily="34" charset="0"/>
                <a:cs typeface="Arial" pitchFamily="34" charset="0"/>
              </a:rPr>
              <a:t>Leveraging </a:t>
            </a:r>
            <a:r>
              <a:rPr lang="en-US" b="1" i="1" dirty="0">
                <a:solidFill>
                  <a:schemeClr val="bg2"/>
                </a:solidFill>
                <a:latin typeface="Arial" pitchFamily="34" charset="0"/>
                <a:cs typeface="Arial" pitchFamily="34" charset="0"/>
              </a:rPr>
              <a:t>data cleaning, robust data modeling, DAX measures, and interactive visualizations, the dashboard provides a comprehensive view of sales, profit, customer purchasing patterns, and regional performance. These insights empower decision-makers to identify trends, optimize inventory and operations, and drive strategic business growth</a:t>
            </a:r>
            <a:r>
              <a:rPr lang="en-US" b="1" i="1" dirty="0" smtClean="0">
                <a:solidFill>
                  <a:schemeClr val="bg2"/>
                </a:solidFill>
                <a:latin typeface="Arial" pitchFamily="34" charset="0"/>
                <a:cs typeface="Arial" pitchFamily="34" charset="0"/>
              </a:rPr>
              <a:t>.</a:t>
            </a:r>
            <a:endParaRPr lang="en-US" sz="1800" b="1" i="1" dirty="0">
              <a:solidFill>
                <a:schemeClr val="bg2"/>
              </a:solidFill>
              <a:latin typeface="Arial" pitchFamily="34" charset="0"/>
              <a:cs typeface="Arial" pitchFamily="34" charset="0"/>
            </a:endParaRPr>
          </a:p>
        </p:txBody>
      </p:sp>
      <p:sp>
        <p:nvSpPr>
          <p:cNvPr id="6" name="Shape 4"/>
          <p:cNvSpPr/>
          <p:nvPr/>
        </p:nvSpPr>
        <p:spPr>
          <a:xfrm flipV="1">
            <a:off x="452387" y="4463654"/>
            <a:ext cx="8056345" cy="45719"/>
          </a:xfrm>
          <a:prstGeom prst="rect">
            <a:avLst/>
          </a:prstGeom>
          <a:solidFill>
            <a:srgbClr val="FF6B35"/>
          </a:solidFill>
          <a:ln/>
        </p:spPr>
      </p:sp>
      <p:sp>
        <p:nvSpPr>
          <p:cNvPr id="7" name="Text 5"/>
          <p:cNvSpPr/>
          <p:nvPr/>
        </p:nvSpPr>
        <p:spPr>
          <a:xfrm>
            <a:off x="726707" y="5397367"/>
            <a:ext cx="7772400" cy="548640"/>
          </a:xfrm>
          <a:prstGeom prst="rect">
            <a:avLst/>
          </a:prstGeom>
          <a:noFill/>
          <a:ln/>
        </p:spPr>
        <p:txBody>
          <a:bodyPr wrap="square" rtlCol="0" anchor="ctr"/>
          <a:lstStyle/>
          <a:p>
            <a:pPr marL="0" indent="0">
              <a:buNone/>
            </a:pPr>
            <a:endParaRPr lang="en-US" sz="1300" dirty="0"/>
          </a:p>
        </p:txBody>
      </p:sp>
      <p:sp>
        <p:nvSpPr>
          <p:cNvPr id="8" name="Rectangle 7"/>
          <p:cNvSpPr/>
          <p:nvPr/>
        </p:nvSpPr>
        <p:spPr>
          <a:xfrm>
            <a:off x="452387" y="2207044"/>
            <a:ext cx="8727708" cy="646331"/>
          </a:xfrm>
          <a:prstGeom prst="rect">
            <a:avLst/>
          </a:prstGeom>
          <a:noFill/>
        </p:spPr>
        <p:txBody>
          <a:bodyPr wrap="square">
            <a:spAutoFit/>
          </a:bodyPr>
          <a:lstStyle/>
          <a:p>
            <a:r>
              <a:rPr lang="en-US" b="1" dirty="0">
                <a:solidFill>
                  <a:schemeClr val="bg1"/>
                </a:solidFill>
                <a:latin typeface="Arial" pitchFamily="34" charset="0"/>
                <a:cs typeface="Arial" pitchFamily="34" charset="0"/>
              </a:rPr>
              <a:t>The </a:t>
            </a:r>
            <a:r>
              <a:rPr lang="en-US" b="1" dirty="0" err="1">
                <a:solidFill>
                  <a:schemeClr val="bg1"/>
                </a:solidFill>
                <a:latin typeface="Arial" pitchFamily="34" charset="0"/>
                <a:cs typeface="Arial" pitchFamily="34" charset="0"/>
              </a:rPr>
              <a:t>Walmart</a:t>
            </a:r>
            <a:r>
              <a:rPr lang="en-US" b="1" dirty="0">
                <a:solidFill>
                  <a:schemeClr val="bg1"/>
                </a:solidFill>
                <a:latin typeface="Arial" pitchFamily="34" charset="0"/>
                <a:cs typeface="Arial" pitchFamily="34" charset="0"/>
              </a:rPr>
              <a:t> Retail Store Analysis Dashboard converts raw retail data into actionable business intelligence through Microsoft Power BI</a:t>
            </a:r>
            <a:r>
              <a:rPr lang="en-US" dirty="0">
                <a:solidFill>
                  <a:schemeClr val="bg1"/>
                </a:solidFill>
                <a:latin typeface="Arial" pitchFamily="34" charset="0"/>
                <a:cs typeface="Arial" pitchFamily="34" charset="0"/>
              </a:rPr>
              <a:t>. </a:t>
            </a:r>
            <a:endParaRPr lang="en-IN"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807</Words>
  <Application>Microsoft Office PowerPoint</Application>
  <PresentationFormat>Custom</PresentationFormat>
  <Paragraphs>118</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13</cp:revision>
  <dcterms:created xsi:type="dcterms:W3CDTF">2026-07-14T22:04:03Z</dcterms:created>
  <dcterms:modified xsi:type="dcterms:W3CDTF">2026-07-15T00:05:57Z</dcterms:modified>
</cp:coreProperties>
</file>